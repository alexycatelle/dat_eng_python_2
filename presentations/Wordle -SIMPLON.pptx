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Lobster"/>
      <p:regular r:id="rId18"/>
    </p:embeddedFont>
    <p:embeddedFont>
      <p:font typeface="Amaranth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maranth-bold.fntdata"/><Relationship Id="rId11" Type="http://schemas.openxmlformats.org/officeDocument/2006/relationships/slide" Target="slides/slide6.xml"/><Relationship Id="rId22" Type="http://schemas.openxmlformats.org/officeDocument/2006/relationships/font" Target="fonts/Amaranth-boldItalic.fntdata"/><Relationship Id="rId10" Type="http://schemas.openxmlformats.org/officeDocument/2006/relationships/slide" Target="slides/slide5.xml"/><Relationship Id="rId21" Type="http://schemas.openxmlformats.org/officeDocument/2006/relationships/font" Target="fonts/Amaranth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maranth-regular.fntdata"/><Relationship Id="rId6" Type="http://schemas.openxmlformats.org/officeDocument/2006/relationships/slide" Target="slides/slide1.xml"/><Relationship Id="rId18" Type="http://schemas.openxmlformats.org/officeDocument/2006/relationships/font" Target="fonts/Lobs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7f59c602b2d9289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h7f59c602b2d9289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6eb70a448ad9c1c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6eb70a448ad9c1c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7f59c602b2d9289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7f59c602b2d9289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7f59c602b2d9289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7f59c602b2d9289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7f59c602b2d9289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7f59c602b2d9289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7f59c602b2d92896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7f59c602b2d9289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6eb70a448ad9c1c7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h6eb70a448ad9c1c7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6eb70a448ad9c1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h6eb70a448ad9c1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6eb70a448ad9c1c7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h6eb70a448ad9c1c7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h6eb70a448ad9c1c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h6eb70a448ad9c1c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h6eb70a448ad9c1c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h6eb70a448ad9c1c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283975" y="1274525"/>
            <a:ext cx="983700" cy="983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700088" rotWithShape="0" algn="bl" dir="8340000" dist="447675">
              <a:srgbClr val="FF99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>
                <a:latin typeface="Lobster"/>
                <a:ea typeface="Lobster"/>
                <a:cs typeface="Lobster"/>
                <a:sym typeface="Lobster"/>
              </a:rPr>
              <a:t>W</a:t>
            </a:r>
            <a:endParaRPr sz="4800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2455850" y="1274525"/>
            <a:ext cx="983700" cy="983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700088" rotWithShape="0" algn="bl" dir="8340000" dist="447675">
              <a:srgbClr val="FF99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8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o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3627725" y="1274525"/>
            <a:ext cx="983700" cy="983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700088" rotWithShape="0" algn="bl" dir="8340000" dist="447675">
              <a:srgbClr val="FF99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8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r</a:t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4799600" y="1274525"/>
            <a:ext cx="983700" cy="983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700088" rotWithShape="0" algn="bl" dir="8340000" dist="447675">
              <a:srgbClr val="FF99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8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d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5971475" y="1274525"/>
            <a:ext cx="983700" cy="983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700088" rotWithShape="0" algn="bl" dir="8340000" dist="447675">
              <a:srgbClr val="FF99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8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l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7143350" y="1274525"/>
            <a:ext cx="983700" cy="983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700088" rotWithShape="0" algn="bl" dir="8340000" dist="447675">
              <a:srgbClr val="FF99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e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3505500" y="2571750"/>
            <a:ext cx="213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latin typeface="Amaranth"/>
                <a:ea typeface="Amaranth"/>
                <a:cs typeface="Amaranth"/>
                <a:sym typeface="Amaranth"/>
              </a:rPr>
              <a:t>U</a:t>
            </a:r>
            <a:r>
              <a:rPr lang="es" sz="2400">
                <a:latin typeface="Amaranth"/>
                <a:ea typeface="Amaranth"/>
                <a:cs typeface="Amaranth"/>
                <a:sym typeface="Amaranth"/>
              </a:rPr>
              <a:t>n jeu de mots</a:t>
            </a:r>
            <a:endParaRPr sz="2400">
              <a:latin typeface="Amaranth"/>
              <a:ea typeface="Amaranth"/>
              <a:cs typeface="Amaranth"/>
              <a:sym typeface="Amaranth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2175375" y="3641425"/>
            <a:ext cx="156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</a:rPr>
              <a:t>Alexy Catelle 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6093650" y="3641450"/>
            <a:ext cx="1644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</a:rPr>
              <a:t>Xareni Galindo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571750"/>
            <a:ext cx="8520600" cy="31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chemeClr val="dk1"/>
                </a:solidFill>
              </a:rPr>
              <a:t>Ce jeu nous permet de </a:t>
            </a:r>
            <a:r>
              <a:rPr lang="es" sz="2300">
                <a:solidFill>
                  <a:schemeClr val="dk1"/>
                </a:solidFill>
              </a:rPr>
              <a:t>appliquer</a:t>
            </a:r>
            <a:r>
              <a:rPr lang="es" sz="2300">
                <a:solidFill>
                  <a:schemeClr val="dk1"/>
                </a:solidFill>
              </a:rPr>
              <a:t> les différents éléments du codage en Python appris pendant la première semaine: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s" sz="2300">
                <a:solidFill>
                  <a:schemeClr val="dk1"/>
                </a:solidFill>
              </a:rPr>
              <a:t>Les boucles (while, for) et conditions (if).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s" sz="2300">
                <a:solidFill>
                  <a:schemeClr val="dk1"/>
                </a:solidFill>
              </a:rPr>
              <a:t>Travailler avec de listes et grand volume des données.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311692" y="45655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M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993853" y="45655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o</a:t>
            </a:r>
            <a:endParaRPr sz="815"/>
          </a:p>
        </p:txBody>
      </p:sp>
      <p:sp>
        <p:nvSpPr>
          <p:cNvPr id="70" name="Google Shape;70;p14"/>
          <p:cNvSpPr/>
          <p:nvPr/>
        </p:nvSpPr>
        <p:spPr>
          <a:xfrm>
            <a:off x="1676015" y="45655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t</a:t>
            </a:r>
            <a:endParaRPr sz="815"/>
          </a:p>
        </p:txBody>
      </p:sp>
      <p:sp>
        <p:nvSpPr>
          <p:cNvPr id="71" name="Google Shape;71;p14"/>
          <p:cNvSpPr/>
          <p:nvPr/>
        </p:nvSpPr>
        <p:spPr>
          <a:xfrm>
            <a:off x="3722550" y="45655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a</a:t>
            </a:r>
            <a:endParaRPr sz="815"/>
          </a:p>
        </p:txBody>
      </p:sp>
      <p:sp>
        <p:nvSpPr>
          <p:cNvPr id="72" name="Google Shape;72;p14"/>
          <p:cNvSpPr/>
          <p:nvPr/>
        </p:nvSpPr>
        <p:spPr>
          <a:xfrm>
            <a:off x="4404711" y="45655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t</a:t>
            </a:r>
            <a:endParaRPr sz="815"/>
          </a:p>
        </p:txBody>
      </p:sp>
      <p:sp>
        <p:nvSpPr>
          <p:cNvPr id="73" name="Google Shape;73;p14"/>
          <p:cNvSpPr/>
          <p:nvPr/>
        </p:nvSpPr>
        <p:spPr>
          <a:xfrm>
            <a:off x="5086851" y="45655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i</a:t>
            </a:r>
            <a:endParaRPr sz="815"/>
          </a:p>
        </p:txBody>
      </p:sp>
      <p:sp>
        <p:nvSpPr>
          <p:cNvPr id="74" name="Google Shape;74;p14"/>
          <p:cNvSpPr/>
          <p:nvPr/>
        </p:nvSpPr>
        <p:spPr>
          <a:xfrm>
            <a:off x="3040378" y="45655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v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2358190" y="45655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i</a:t>
            </a:r>
            <a:endParaRPr sz="815"/>
          </a:p>
        </p:txBody>
      </p:sp>
      <p:sp>
        <p:nvSpPr>
          <p:cNvPr id="76" name="Google Shape;76;p14"/>
          <p:cNvSpPr/>
          <p:nvPr/>
        </p:nvSpPr>
        <p:spPr>
          <a:xfrm>
            <a:off x="6408576" y="45655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n</a:t>
            </a:r>
            <a:endParaRPr sz="815"/>
          </a:p>
        </p:txBody>
      </p:sp>
      <p:sp>
        <p:nvSpPr>
          <p:cNvPr id="77" name="Google Shape;77;p14"/>
          <p:cNvSpPr/>
          <p:nvPr/>
        </p:nvSpPr>
        <p:spPr>
          <a:xfrm>
            <a:off x="5769001" y="45655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o</a:t>
            </a:r>
            <a:endParaRPr sz="81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311700" y="1993350"/>
            <a:ext cx="8520600" cy="11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300">
                <a:solidFill>
                  <a:schemeClr val="dk1"/>
                </a:solidFill>
              </a:rPr>
              <a:t>Deviner un mot de 5 à 21 lettres en 6 essais maximum. En utilisant des mots existants de la langue française.</a:t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193210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B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2614265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u</a:t>
            </a:r>
            <a:endParaRPr sz="815"/>
          </a:p>
        </p:txBody>
      </p:sp>
      <p:sp>
        <p:nvSpPr>
          <p:cNvPr id="85" name="Google Shape;85;p15"/>
          <p:cNvSpPr/>
          <p:nvPr/>
        </p:nvSpPr>
        <p:spPr>
          <a:xfrm>
            <a:off x="3296426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t</a:t>
            </a:r>
            <a:endParaRPr sz="815"/>
          </a:p>
        </p:txBody>
      </p:sp>
      <p:sp>
        <p:nvSpPr>
          <p:cNvPr id="86" name="Google Shape;86;p15"/>
          <p:cNvSpPr/>
          <p:nvPr/>
        </p:nvSpPr>
        <p:spPr>
          <a:xfrm>
            <a:off x="311700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L</a:t>
            </a:r>
            <a:endParaRPr sz="815"/>
          </a:p>
        </p:txBody>
      </p:sp>
      <p:sp>
        <p:nvSpPr>
          <p:cNvPr id="87" name="Google Shape;87;p15"/>
          <p:cNvSpPr/>
          <p:nvPr/>
        </p:nvSpPr>
        <p:spPr>
          <a:xfrm>
            <a:off x="99386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e</a:t>
            </a:r>
            <a:endParaRPr sz="81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279100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R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3473165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e</a:t>
            </a:r>
            <a:endParaRPr sz="815"/>
          </a:p>
        </p:txBody>
      </p:sp>
      <p:sp>
        <p:nvSpPr>
          <p:cNvPr id="94" name="Google Shape;94;p16"/>
          <p:cNvSpPr/>
          <p:nvPr/>
        </p:nvSpPr>
        <p:spPr>
          <a:xfrm>
            <a:off x="167600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s</a:t>
            </a:r>
            <a:endParaRPr sz="815"/>
          </a:p>
        </p:txBody>
      </p:sp>
      <p:sp>
        <p:nvSpPr>
          <p:cNvPr id="95" name="Google Shape;95;p16"/>
          <p:cNvSpPr/>
          <p:nvPr/>
        </p:nvSpPr>
        <p:spPr>
          <a:xfrm>
            <a:off x="311700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L</a:t>
            </a:r>
            <a:endParaRPr sz="815"/>
          </a:p>
        </p:txBody>
      </p:sp>
      <p:sp>
        <p:nvSpPr>
          <p:cNvPr id="96" name="Google Shape;96;p16"/>
          <p:cNvSpPr/>
          <p:nvPr/>
        </p:nvSpPr>
        <p:spPr>
          <a:xfrm>
            <a:off x="99386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e</a:t>
            </a:r>
            <a:endParaRPr sz="815"/>
          </a:p>
        </p:txBody>
      </p:sp>
      <p:sp>
        <p:nvSpPr>
          <p:cNvPr id="97" name="Google Shape;97;p16"/>
          <p:cNvSpPr/>
          <p:nvPr/>
        </p:nvSpPr>
        <p:spPr>
          <a:xfrm>
            <a:off x="415535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g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4837515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l</a:t>
            </a:r>
            <a:endParaRPr sz="815"/>
          </a:p>
        </p:txBody>
      </p:sp>
      <p:sp>
        <p:nvSpPr>
          <p:cNvPr id="99" name="Google Shape;99;p16"/>
          <p:cNvSpPr/>
          <p:nvPr/>
        </p:nvSpPr>
        <p:spPr>
          <a:xfrm>
            <a:off x="5519676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e</a:t>
            </a:r>
            <a:endParaRPr sz="815"/>
          </a:p>
        </p:txBody>
      </p:sp>
      <p:sp>
        <p:nvSpPr>
          <p:cNvPr id="100" name="Google Shape;100;p16"/>
          <p:cNvSpPr txBox="1"/>
          <p:nvPr/>
        </p:nvSpPr>
        <p:spPr>
          <a:xfrm>
            <a:off x="311700" y="1619000"/>
            <a:ext cx="8130900" cy="30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87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Char char="○"/>
            </a:pPr>
            <a:r>
              <a:rPr lang="es" sz="2050">
                <a:solidFill>
                  <a:schemeClr val="dk1"/>
                </a:solidFill>
              </a:rPr>
              <a:t>Les  mots</a:t>
            </a:r>
            <a:r>
              <a:rPr lang="es" sz="2050">
                <a:solidFill>
                  <a:schemeClr val="dk1"/>
                </a:solidFill>
              </a:rPr>
              <a:t> : chaque tentative doit correspondre à un mot de la  </a:t>
            </a:r>
            <a:r>
              <a:rPr lang="es" sz="2050">
                <a:solidFill>
                  <a:schemeClr val="dk1"/>
                </a:solidFill>
              </a:rPr>
              <a:t>longueur</a:t>
            </a:r>
            <a:r>
              <a:rPr lang="es" sz="2050">
                <a:solidFill>
                  <a:schemeClr val="dk1"/>
                </a:solidFill>
              </a:rPr>
              <a:t> </a:t>
            </a:r>
            <a:r>
              <a:rPr lang="es" sz="2050">
                <a:solidFill>
                  <a:schemeClr val="dk1"/>
                </a:solidFill>
              </a:rPr>
              <a:t>choisie</a:t>
            </a:r>
            <a:r>
              <a:rPr lang="es" sz="2050">
                <a:solidFill>
                  <a:schemeClr val="dk1"/>
                </a:solidFill>
              </a:rPr>
              <a:t>.</a:t>
            </a:r>
            <a:endParaRPr sz="2050">
              <a:solidFill>
                <a:schemeClr val="dk1"/>
              </a:solidFill>
            </a:endParaRPr>
          </a:p>
          <a:p>
            <a:pPr indent="-3587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Char char="○"/>
            </a:pPr>
            <a:r>
              <a:rPr lang="es" sz="2050">
                <a:solidFill>
                  <a:schemeClr val="dk1"/>
                </a:solidFill>
              </a:rPr>
              <a:t>Tentatives : vous disposez de 6 tentatives pour saisir des mots et obtenir des indices.</a:t>
            </a:r>
            <a:endParaRPr sz="2050">
              <a:solidFill>
                <a:schemeClr val="dk1"/>
              </a:solidFill>
            </a:endParaRPr>
          </a:p>
          <a:p>
            <a:pPr indent="-3587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Char char="○"/>
            </a:pPr>
            <a:r>
              <a:rPr lang="es" sz="2050">
                <a:solidFill>
                  <a:schemeClr val="dk1"/>
                </a:solidFill>
              </a:rPr>
              <a:t>🟩 Vert : la lettre se trouve dans le mot et à la bonne place.</a:t>
            </a:r>
            <a:endParaRPr sz="2050">
              <a:solidFill>
                <a:schemeClr val="dk1"/>
              </a:solidFill>
            </a:endParaRPr>
          </a:p>
          <a:p>
            <a:pPr indent="-3587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Char char="○"/>
            </a:pPr>
            <a:r>
              <a:rPr lang="es" sz="2050">
                <a:solidFill>
                  <a:schemeClr val="dk1"/>
                </a:solidFill>
              </a:rPr>
              <a:t>🟨 Jaune : la lettre se trouve dans le mot, mais à la mauvaise place.</a:t>
            </a:r>
            <a:endParaRPr sz="2050">
              <a:solidFill>
                <a:schemeClr val="dk1"/>
              </a:solidFill>
            </a:endParaRPr>
          </a:p>
          <a:p>
            <a:pPr indent="-3587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Char char="○"/>
            </a:pPr>
            <a:r>
              <a:rPr lang="es" sz="2050">
                <a:solidFill>
                  <a:schemeClr val="dk1"/>
                </a:solidFill>
              </a:rPr>
              <a:t>⬛ Gris (ou noir) : la lettre ne fait pas partie du mot caché.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/>
          <p:nvPr/>
        </p:nvSpPr>
        <p:spPr>
          <a:xfrm>
            <a:off x="372245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ô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2358140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t</a:t>
            </a:r>
            <a:endParaRPr sz="815"/>
          </a:p>
        </p:txBody>
      </p:sp>
      <p:sp>
        <p:nvSpPr>
          <p:cNvPr id="107" name="Google Shape;107;p17"/>
          <p:cNvSpPr/>
          <p:nvPr/>
        </p:nvSpPr>
        <p:spPr>
          <a:xfrm>
            <a:off x="167600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n</a:t>
            </a:r>
            <a:endParaRPr sz="815"/>
          </a:p>
        </p:txBody>
      </p:sp>
      <p:sp>
        <p:nvSpPr>
          <p:cNvPr id="108" name="Google Shape;108;p17"/>
          <p:cNvSpPr/>
          <p:nvPr/>
        </p:nvSpPr>
        <p:spPr>
          <a:xfrm>
            <a:off x="311700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C</a:t>
            </a:r>
            <a:endParaRPr sz="815"/>
          </a:p>
        </p:txBody>
      </p:sp>
      <p:sp>
        <p:nvSpPr>
          <p:cNvPr id="109" name="Google Shape;109;p17"/>
          <p:cNvSpPr/>
          <p:nvPr/>
        </p:nvSpPr>
        <p:spPr>
          <a:xfrm>
            <a:off x="99386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o</a:t>
            </a:r>
            <a:endParaRPr sz="815"/>
          </a:p>
        </p:txBody>
      </p:sp>
      <p:sp>
        <p:nvSpPr>
          <p:cNvPr id="110" name="Google Shape;110;p17"/>
          <p:cNvSpPr/>
          <p:nvPr/>
        </p:nvSpPr>
        <p:spPr>
          <a:xfrm>
            <a:off x="304030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r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4404590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rgbClr val="000000"/>
                </a:solidFill>
                <a:latin typeface="Lobster"/>
                <a:ea typeface="Lobster"/>
                <a:cs typeface="Lobster"/>
                <a:sym typeface="Lobster"/>
              </a:rPr>
              <a:t>l</a:t>
            </a:r>
            <a:endParaRPr sz="815"/>
          </a:p>
        </p:txBody>
      </p:sp>
      <p:sp>
        <p:nvSpPr>
          <p:cNvPr id="112" name="Google Shape;112;p17"/>
          <p:cNvSpPr/>
          <p:nvPr/>
        </p:nvSpPr>
        <p:spPr>
          <a:xfrm>
            <a:off x="508675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e</a:t>
            </a:r>
            <a:endParaRPr sz="815"/>
          </a:p>
        </p:txBody>
      </p:sp>
      <p:sp>
        <p:nvSpPr>
          <p:cNvPr id="113" name="Google Shape;113;p17"/>
          <p:cNvSpPr/>
          <p:nvPr/>
        </p:nvSpPr>
        <p:spPr>
          <a:xfrm>
            <a:off x="576890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s</a:t>
            </a:r>
            <a:endParaRPr sz="815"/>
          </a:p>
        </p:txBody>
      </p:sp>
      <p:sp>
        <p:nvSpPr>
          <p:cNvPr id="114" name="Google Shape;114;p17"/>
          <p:cNvSpPr txBox="1"/>
          <p:nvPr/>
        </p:nvSpPr>
        <p:spPr>
          <a:xfrm>
            <a:off x="311700" y="1432925"/>
            <a:ext cx="463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Clavier pour saisir les lettres</a:t>
            </a:r>
            <a:endParaRPr sz="1800"/>
          </a:p>
        </p:txBody>
      </p:sp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/>
          </a:blip>
          <a:srcRect b="32737" l="7705" r="8550" t="10241"/>
          <a:stretch/>
        </p:blipFill>
        <p:spPr>
          <a:xfrm>
            <a:off x="6109075" y="1750150"/>
            <a:ext cx="2626850" cy="2397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8700" y="2252351"/>
            <a:ext cx="4635900" cy="161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311700" y="1152475"/>
            <a:ext cx="8520600" cy="38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rgbClr val="6AA84F"/>
                </a:solidFill>
              </a:rPr>
              <a:t>Victoire/défaite</a:t>
            </a:r>
            <a:endParaRPr b="1" sz="2500">
              <a:solidFill>
                <a:srgbClr val="6AA84F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s" sz="2500">
                <a:solidFill>
                  <a:schemeClr val="dk1"/>
                </a:solidFill>
              </a:rPr>
              <a:t>Le jeu se termine quand le joueur a trouvé le mot ou a épuisé ses 6 tours. </a:t>
            </a:r>
            <a:endParaRPr sz="2500">
              <a:solidFill>
                <a:schemeClr val="dk1"/>
              </a:solidFill>
            </a:endParaRPr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AutoNum type="romanLcPeriod"/>
            </a:pPr>
            <a:r>
              <a:rPr lang="es" sz="2500">
                <a:solidFill>
                  <a:schemeClr val="dk1"/>
                </a:solidFill>
              </a:rPr>
              <a:t>Le joueur gagne s’il trouve le mot dans les 6 tours </a:t>
            </a:r>
            <a:endParaRPr sz="2500">
              <a:solidFill>
                <a:schemeClr val="dk1"/>
              </a:solidFill>
            </a:endParaRPr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AutoNum type="romanLcPeriod"/>
            </a:pPr>
            <a:r>
              <a:rPr lang="es" sz="2500">
                <a:solidFill>
                  <a:schemeClr val="dk1"/>
                </a:solidFill>
              </a:rPr>
              <a:t>Le joueur perd s’il n’arrive pas à trouver le mot dans les 6 tours. </a:t>
            </a:r>
            <a:endParaRPr sz="2500"/>
          </a:p>
        </p:txBody>
      </p:sp>
      <p:sp>
        <p:nvSpPr>
          <p:cNvPr id="122" name="Google Shape;122;p18"/>
          <p:cNvSpPr/>
          <p:nvPr/>
        </p:nvSpPr>
        <p:spPr>
          <a:xfrm>
            <a:off x="372245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t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2358140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d</a:t>
            </a:r>
            <a:endParaRPr sz="815"/>
          </a:p>
        </p:txBody>
      </p:sp>
      <p:sp>
        <p:nvSpPr>
          <p:cNvPr id="124" name="Google Shape;124;p18"/>
          <p:cNvSpPr/>
          <p:nvPr/>
        </p:nvSpPr>
        <p:spPr>
          <a:xfrm>
            <a:off x="167600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n</a:t>
            </a:r>
            <a:endParaRPr sz="815"/>
          </a:p>
        </p:txBody>
      </p:sp>
      <p:sp>
        <p:nvSpPr>
          <p:cNvPr id="125" name="Google Shape;125;p18"/>
          <p:cNvSpPr/>
          <p:nvPr/>
        </p:nvSpPr>
        <p:spPr>
          <a:xfrm>
            <a:off x="311700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C</a:t>
            </a:r>
            <a:endParaRPr sz="815"/>
          </a:p>
        </p:txBody>
      </p:sp>
      <p:sp>
        <p:nvSpPr>
          <p:cNvPr id="126" name="Google Shape;126;p18"/>
          <p:cNvSpPr/>
          <p:nvPr/>
        </p:nvSpPr>
        <p:spPr>
          <a:xfrm>
            <a:off x="99386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o</a:t>
            </a:r>
            <a:endParaRPr sz="815"/>
          </a:p>
        </p:txBody>
      </p:sp>
      <p:sp>
        <p:nvSpPr>
          <p:cNvPr id="127" name="Google Shape;127;p18"/>
          <p:cNvSpPr/>
          <p:nvPr/>
        </p:nvSpPr>
        <p:spPr>
          <a:xfrm>
            <a:off x="304030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i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4404590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i</a:t>
            </a:r>
            <a:endParaRPr sz="815"/>
          </a:p>
        </p:txBody>
      </p:sp>
      <p:sp>
        <p:nvSpPr>
          <p:cNvPr id="129" name="Google Shape;129;p18"/>
          <p:cNvSpPr/>
          <p:nvPr/>
        </p:nvSpPr>
        <p:spPr>
          <a:xfrm>
            <a:off x="508675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o</a:t>
            </a:r>
            <a:endParaRPr sz="815"/>
          </a:p>
        </p:txBody>
      </p:sp>
      <p:sp>
        <p:nvSpPr>
          <p:cNvPr id="130" name="Google Shape;130;p18"/>
          <p:cNvSpPr/>
          <p:nvPr/>
        </p:nvSpPr>
        <p:spPr>
          <a:xfrm>
            <a:off x="576890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n</a:t>
            </a:r>
            <a:endParaRPr sz="815"/>
          </a:p>
        </p:txBody>
      </p:sp>
      <p:sp>
        <p:nvSpPr>
          <p:cNvPr id="131" name="Google Shape;131;p18"/>
          <p:cNvSpPr/>
          <p:nvPr/>
        </p:nvSpPr>
        <p:spPr>
          <a:xfrm>
            <a:off x="645106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s</a:t>
            </a:r>
            <a:endParaRPr sz="81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/>
          <p:nvPr/>
        </p:nvSpPr>
        <p:spPr>
          <a:xfrm>
            <a:off x="279100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o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3473165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g</a:t>
            </a:r>
            <a:endParaRPr sz="815"/>
          </a:p>
        </p:txBody>
      </p:sp>
      <p:sp>
        <p:nvSpPr>
          <p:cNvPr id="138" name="Google Shape;138;p19"/>
          <p:cNvSpPr/>
          <p:nvPr/>
        </p:nvSpPr>
        <p:spPr>
          <a:xfrm>
            <a:off x="2108826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L</a:t>
            </a:r>
            <a:endParaRPr sz="815"/>
          </a:p>
        </p:txBody>
      </p:sp>
      <p:sp>
        <p:nvSpPr>
          <p:cNvPr id="139" name="Google Shape;139;p19"/>
          <p:cNvSpPr/>
          <p:nvPr/>
        </p:nvSpPr>
        <p:spPr>
          <a:xfrm>
            <a:off x="311700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L</a:t>
            </a:r>
            <a:endParaRPr sz="815"/>
          </a:p>
        </p:txBody>
      </p:sp>
      <p:sp>
        <p:nvSpPr>
          <p:cNvPr id="140" name="Google Shape;140;p19"/>
          <p:cNvSpPr/>
          <p:nvPr/>
        </p:nvSpPr>
        <p:spPr>
          <a:xfrm>
            <a:off x="99386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a</a:t>
            </a:r>
            <a:endParaRPr sz="815"/>
          </a:p>
        </p:txBody>
      </p:sp>
      <p:sp>
        <p:nvSpPr>
          <p:cNvPr id="141" name="Google Shape;141;p19"/>
          <p:cNvSpPr/>
          <p:nvPr/>
        </p:nvSpPr>
        <p:spPr>
          <a:xfrm>
            <a:off x="415535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i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4837515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c</a:t>
            </a:r>
            <a:endParaRPr sz="815"/>
          </a:p>
        </p:txBody>
      </p:sp>
      <p:sp>
        <p:nvSpPr>
          <p:cNvPr id="143" name="Google Shape;143;p19"/>
          <p:cNvSpPr/>
          <p:nvPr/>
        </p:nvSpPr>
        <p:spPr>
          <a:xfrm>
            <a:off x="704148" y="1555256"/>
            <a:ext cx="1382700" cy="778800"/>
          </a:xfrm>
          <a:prstGeom prst="parallelogram">
            <a:avLst>
              <a:gd fmla="val 25000" name="adj"/>
            </a:avLst>
          </a:prstGeom>
          <a:solidFill>
            <a:srgbClr val="D9EAD3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Longueur</a:t>
            </a:r>
            <a:r>
              <a:rPr lang="es" sz="1200"/>
              <a:t> de mot à jouer</a:t>
            </a:r>
            <a:endParaRPr sz="1200"/>
          </a:p>
        </p:txBody>
      </p:sp>
      <p:sp>
        <p:nvSpPr>
          <p:cNvPr id="144" name="Google Shape;144;p19"/>
          <p:cNvSpPr/>
          <p:nvPr/>
        </p:nvSpPr>
        <p:spPr>
          <a:xfrm>
            <a:off x="565548" y="3805456"/>
            <a:ext cx="1659900" cy="817200"/>
          </a:xfrm>
          <a:prstGeom prst="parallelogram">
            <a:avLst>
              <a:gd fmla="val 25000" name="adj"/>
            </a:avLst>
          </a:prstGeom>
          <a:solidFill>
            <a:srgbClr val="D9EAD3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Sasi la mot du premier tentative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(mot tentative)</a:t>
            </a:r>
            <a:endParaRPr sz="1200"/>
          </a:p>
        </p:txBody>
      </p:sp>
      <p:sp>
        <p:nvSpPr>
          <p:cNvPr id="145" name="Google Shape;145;p19"/>
          <p:cNvSpPr/>
          <p:nvPr/>
        </p:nvSpPr>
        <p:spPr>
          <a:xfrm>
            <a:off x="758748" y="2711581"/>
            <a:ext cx="1273500" cy="65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Choisir une mot aléatoire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(mot cible)</a:t>
            </a:r>
            <a:endParaRPr sz="1200"/>
          </a:p>
        </p:txBody>
      </p:sp>
      <p:sp>
        <p:nvSpPr>
          <p:cNvPr id="146" name="Google Shape;146;p19"/>
          <p:cNvSpPr/>
          <p:nvPr/>
        </p:nvSpPr>
        <p:spPr>
          <a:xfrm>
            <a:off x="3094497" y="3884656"/>
            <a:ext cx="1659900" cy="65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Comparaison entre le mot cible et le mot tentative</a:t>
            </a:r>
            <a:r>
              <a:rPr lang="es"/>
              <a:t> </a:t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3094497" y="2720343"/>
            <a:ext cx="1659900" cy="81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Assignation de  couleurs pour </a:t>
            </a:r>
            <a:r>
              <a:rPr lang="es" sz="1200"/>
              <a:t>chaque</a:t>
            </a:r>
            <a:r>
              <a:rPr lang="es" sz="1200"/>
              <a:t> </a:t>
            </a:r>
            <a:r>
              <a:rPr lang="es" sz="1200"/>
              <a:t>caractère</a:t>
            </a:r>
            <a:r>
              <a:rPr lang="es" sz="1200"/>
              <a:t> du mot tentative*</a:t>
            </a:r>
            <a:endParaRPr sz="1200"/>
          </a:p>
        </p:txBody>
      </p:sp>
      <p:sp>
        <p:nvSpPr>
          <p:cNvPr id="148" name="Google Shape;148;p19"/>
          <p:cNvSpPr txBox="1"/>
          <p:nvPr/>
        </p:nvSpPr>
        <p:spPr>
          <a:xfrm>
            <a:off x="6477525" y="4570800"/>
            <a:ext cx="266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vert: character dans le meme position 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jeune: character dans le mauvais position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gris : le character n’est pas dans le mot cible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3035547" y="1516856"/>
            <a:ext cx="1659900" cy="81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A</a:t>
            </a:r>
            <a:r>
              <a:rPr lang="es" sz="1100"/>
              <a:t>fficher le mot tentative, coloré en fonction de la catégorie de chaque lettre</a:t>
            </a:r>
            <a:endParaRPr sz="1100"/>
          </a:p>
        </p:txBody>
      </p:sp>
      <p:sp>
        <p:nvSpPr>
          <p:cNvPr id="150" name="Google Shape;150;p19"/>
          <p:cNvSpPr/>
          <p:nvPr/>
        </p:nvSpPr>
        <p:spPr>
          <a:xfrm>
            <a:off x="5644147" y="1596056"/>
            <a:ext cx="684300" cy="658800"/>
          </a:xfrm>
          <a:prstGeom prst="diamond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if</a:t>
            </a:r>
            <a:endParaRPr/>
          </a:p>
        </p:txBody>
      </p:sp>
      <p:cxnSp>
        <p:nvCxnSpPr>
          <p:cNvPr id="151" name="Google Shape;151;p19"/>
          <p:cNvCxnSpPr>
            <a:stCxn id="149" idx="3"/>
            <a:endCxn id="150" idx="1"/>
          </p:cNvCxnSpPr>
          <p:nvPr/>
        </p:nvCxnSpPr>
        <p:spPr>
          <a:xfrm>
            <a:off x="4695447" y="1925456"/>
            <a:ext cx="94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p19"/>
          <p:cNvSpPr/>
          <p:nvPr/>
        </p:nvSpPr>
        <p:spPr>
          <a:xfrm>
            <a:off x="7690972" y="1492256"/>
            <a:ext cx="907500" cy="86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Tu gagne </a:t>
            </a:r>
            <a:endParaRPr/>
          </a:p>
        </p:txBody>
      </p:sp>
      <p:cxnSp>
        <p:nvCxnSpPr>
          <p:cNvPr id="153" name="Google Shape;153;p19"/>
          <p:cNvCxnSpPr>
            <a:stCxn id="144" idx="2"/>
            <a:endCxn id="146" idx="1"/>
          </p:cNvCxnSpPr>
          <p:nvPr/>
        </p:nvCxnSpPr>
        <p:spPr>
          <a:xfrm>
            <a:off x="2123298" y="4214056"/>
            <a:ext cx="97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19"/>
          <p:cNvCxnSpPr>
            <a:stCxn id="146" idx="0"/>
            <a:endCxn id="147" idx="2"/>
          </p:cNvCxnSpPr>
          <p:nvPr/>
        </p:nvCxnSpPr>
        <p:spPr>
          <a:xfrm rot="10800000">
            <a:off x="3924447" y="3537556"/>
            <a:ext cx="0" cy="34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19"/>
          <p:cNvCxnSpPr/>
          <p:nvPr/>
        </p:nvCxnSpPr>
        <p:spPr>
          <a:xfrm>
            <a:off x="1323223" y="3370381"/>
            <a:ext cx="0" cy="43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19"/>
          <p:cNvCxnSpPr/>
          <p:nvPr/>
        </p:nvCxnSpPr>
        <p:spPr>
          <a:xfrm flipH="1">
            <a:off x="1321722" y="2335631"/>
            <a:ext cx="3000" cy="34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19"/>
          <p:cNvCxnSpPr/>
          <p:nvPr/>
        </p:nvCxnSpPr>
        <p:spPr>
          <a:xfrm rot="10800000">
            <a:off x="3865497" y="2316881"/>
            <a:ext cx="0" cy="38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19"/>
          <p:cNvCxnSpPr>
            <a:stCxn id="150" idx="3"/>
            <a:endCxn id="152" idx="1"/>
          </p:cNvCxnSpPr>
          <p:nvPr/>
        </p:nvCxnSpPr>
        <p:spPr>
          <a:xfrm>
            <a:off x="6328447" y="1925456"/>
            <a:ext cx="136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19"/>
          <p:cNvSpPr txBox="1"/>
          <p:nvPr/>
        </p:nvSpPr>
        <p:spPr>
          <a:xfrm>
            <a:off x="6067697" y="1492256"/>
            <a:ext cx="157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</a:rPr>
              <a:t>mot cible = mot tentative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160" name="Google Shape;160;p19"/>
          <p:cNvCxnSpPr>
            <a:stCxn id="150" idx="2"/>
            <a:endCxn id="144" idx="4"/>
          </p:cNvCxnSpPr>
          <p:nvPr/>
        </p:nvCxnSpPr>
        <p:spPr>
          <a:xfrm rot="5400000">
            <a:off x="2506897" y="1143356"/>
            <a:ext cx="2367900" cy="4590900"/>
          </a:xfrm>
          <a:prstGeom prst="bentConnector3">
            <a:avLst>
              <a:gd fmla="val 11005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19"/>
          <p:cNvSpPr txBox="1"/>
          <p:nvPr/>
        </p:nvSpPr>
        <p:spPr>
          <a:xfrm>
            <a:off x="6067697" y="2781981"/>
            <a:ext cx="165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</a:rPr>
              <a:t>mot cible != mot tentative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/>
          <p:nvPr/>
        </p:nvSpPr>
        <p:spPr>
          <a:xfrm>
            <a:off x="279100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o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3473165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g</a:t>
            </a:r>
            <a:endParaRPr sz="815"/>
          </a:p>
        </p:txBody>
      </p:sp>
      <p:sp>
        <p:nvSpPr>
          <p:cNvPr id="168" name="Google Shape;168;p20"/>
          <p:cNvSpPr/>
          <p:nvPr/>
        </p:nvSpPr>
        <p:spPr>
          <a:xfrm>
            <a:off x="2108826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L</a:t>
            </a:r>
            <a:endParaRPr sz="815"/>
          </a:p>
        </p:txBody>
      </p:sp>
      <p:sp>
        <p:nvSpPr>
          <p:cNvPr id="169" name="Google Shape;169;p20"/>
          <p:cNvSpPr/>
          <p:nvPr/>
        </p:nvSpPr>
        <p:spPr>
          <a:xfrm>
            <a:off x="311700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L</a:t>
            </a:r>
            <a:endParaRPr sz="815"/>
          </a:p>
        </p:txBody>
      </p:sp>
      <p:sp>
        <p:nvSpPr>
          <p:cNvPr id="170" name="Google Shape;170;p20"/>
          <p:cNvSpPr/>
          <p:nvPr/>
        </p:nvSpPr>
        <p:spPr>
          <a:xfrm>
            <a:off x="99386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a</a:t>
            </a:r>
            <a:endParaRPr sz="815"/>
          </a:p>
        </p:txBody>
      </p:sp>
      <p:sp>
        <p:nvSpPr>
          <p:cNvPr id="171" name="Google Shape;171;p20"/>
          <p:cNvSpPr/>
          <p:nvPr/>
        </p:nvSpPr>
        <p:spPr>
          <a:xfrm>
            <a:off x="415535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i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4837515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c</a:t>
            </a:r>
            <a:endParaRPr sz="815"/>
          </a:p>
        </p:txBody>
      </p:sp>
      <p:sp>
        <p:nvSpPr>
          <p:cNvPr id="173" name="Google Shape;173;p20"/>
          <p:cNvSpPr txBox="1"/>
          <p:nvPr/>
        </p:nvSpPr>
        <p:spPr>
          <a:xfrm>
            <a:off x="6477525" y="4570800"/>
            <a:ext cx="266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vert: character dans le meme position 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jeune: character dans le mauvais position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gris : le character n’est pas dans le mot cible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873184" y="1613911"/>
            <a:ext cx="20328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350" lIns="113350" spcFirstLastPara="1" rIns="113350" wrap="square" tIns="113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36"/>
              <a:t>mot cible = Tiret</a:t>
            </a:r>
            <a:endParaRPr sz="1736"/>
          </a:p>
        </p:txBody>
      </p:sp>
      <p:sp>
        <p:nvSpPr>
          <p:cNvPr id="175" name="Google Shape;175;p20"/>
          <p:cNvSpPr/>
          <p:nvPr/>
        </p:nvSpPr>
        <p:spPr>
          <a:xfrm>
            <a:off x="660425" y="3487494"/>
            <a:ext cx="24582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350" lIns="113350" spcFirstLastPara="1" rIns="113350" wrap="square" tIns="113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36"/>
              <a:t>mot tentative = Texte</a:t>
            </a:r>
            <a:endParaRPr sz="1736"/>
          </a:p>
        </p:txBody>
      </p:sp>
      <p:sp>
        <p:nvSpPr>
          <p:cNvPr id="176" name="Google Shape;176;p20"/>
          <p:cNvSpPr/>
          <p:nvPr/>
        </p:nvSpPr>
        <p:spPr>
          <a:xfrm>
            <a:off x="5002367" y="1522108"/>
            <a:ext cx="710100" cy="71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latin typeface="Lobster"/>
                <a:ea typeface="Lobster"/>
                <a:cs typeface="Lobster"/>
                <a:sym typeface="Lobster"/>
              </a:rPr>
              <a:t>i</a:t>
            </a:r>
            <a:endParaRPr sz="346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858242" y="1522108"/>
            <a:ext cx="710100" cy="71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r</a:t>
            </a:r>
            <a:endParaRPr sz="1010"/>
          </a:p>
        </p:txBody>
      </p:sp>
      <p:sp>
        <p:nvSpPr>
          <p:cNvPr id="178" name="Google Shape;178;p20"/>
          <p:cNvSpPr/>
          <p:nvPr/>
        </p:nvSpPr>
        <p:spPr>
          <a:xfrm>
            <a:off x="4146521" y="1522108"/>
            <a:ext cx="710100" cy="71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T</a:t>
            </a:r>
            <a:endParaRPr sz="1010"/>
          </a:p>
        </p:txBody>
      </p:sp>
      <p:sp>
        <p:nvSpPr>
          <p:cNvPr id="179" name="Google Shape;179;p20"/>
          <p:cNvSpPr/>
          <p:nvPr/>
        </p:nvSpPr>
        <p:spPr>
          <a:xfrm>
            <a:off x="6714058" y="1522108"/>
            <a:ext cx="710100" cy="71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latin typeface="Lobster"/>
                <a:ea typeface="Lobster"/>
                <a:cs typeface="Lobster"/>
                <a:sym typeface="Lobster"/>
              </a:rPr>
              <a:t>e</a:t>
            </a:r>
            <a:endParaRPr sz="346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7569945" y="1522108"/>
            <a:ext cx="710100" cy="71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t</a:t>
            </a:r>
            <a:endParaRPr sz="1010"/>
          </a:p>
        </p:txBody>
      </p:sp>
      <p:sp>
        <p:nvSpPr>
          <p:cNvPr id="181" name="Google Shape;181;p20"/>
          <p:cNvSpPr/>
          <p:nvPr/>
        </p:nvSpPr>
        <p:spPr>
          <a:xfrm>
            <a:off x="5002367" y="3441599"/>
            <a:ext cx="710100" cy="71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latin typeface="Lobster"/>
                <a:ea typeface="Lobster"/>
                <a:cs typeface="Lobster"/>
                <a:sym typeface="Lobster"/>
              </a:rPr>
              <a:t>e</a:t>
            </a:r>
            <a:endParaRPr sz="346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5858204" y="3441599"/>
            <a:ext cx="710100" cy="71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x</a:t>
            </a:r>
            <a:endParaRPr sz="1010"/>
          </a:p>
        </p:txBody>
      </p:sp>
      <p:sp>
        <p:nvSpPr>
          <p:cNvPr id="183" name="Google Shape;183;p20"/>
          <p:cNvSpPr/>
          <p:nvPr/>
        </p:nvSpPr>
        <p:spPr>
          <a:xfrm>
            <a:off x="6714058" y="3441599"/>
            <a:ext cx="710100" cy="71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latin typeface="Lobster"/>
                <a:ea typeface="Lobster"/>
                <a:cs typeface="Lobster"/>
                <a:sym typeface="Lobster"/>
              </a:rPr>
              <a:t>t</a:t>
            </a:r>
            <a:endParaRPr sz="346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7569945" y="3441599"/>
            <a:ext cx="710100" cy="71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e</a:t>
            </a:r>
            <a:endParaRPr sz="1010"/>
          </a:p>
        </p:txBody>
      </p:sp>
      <p:cxnSp>
        <p:nvCxnSpPr>
          <p:cNvPr id="185" name="Google Shape;185;p20"/>
          <p:cNvCxnSpPr>
            <a:stCxn id="179" idx="2"/>
            <a:endCxn id="181" idx="0"/>
          </p:cNvCxnSpPr>
          <p:nvPr/>
        </p:nvCxnSpPr>
        <p:spPr>
          <a:xfrm flipH="1">
            <a:off x="5357308" y="2232208"/>
            <a:ext cx="1711800" cy="1209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20"/>
          <p:cNvCxnSpPr>
            <a:stCxn id="178" idx="2"/>
            <a:endCxn id="187" idx="0"/>
          </p:cNvCxnSpPr>
          <p:nvPr/>
        </p:nvCxnSpPr>
        <p:spPr>
          <a:xfrm>
            <a:off x="4501571" y="2232208"/>
            <a:ext cx="0" cy="1209300"/>
          </a:xfrm>
          <a:prstGeom prst="straightConnector1">
            <a:avLst/>
          </a:prstGeom>
          <a:noFill/>
          <a:ln cap="flat" cmpd="sng" w="35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20"/>
          <p:cNvCxnSpPr>
            <a:stCxn id="179" idx="2"/>
            <a:endCxn id="184" idx="0"/>
          </p:cNvCxnSpPr>
          <p:nvPr/>
        </p:nvCxnSpPr>
        <p:spPr>
          <a:xfrm>
            <a:off x="7069108" y="2232208"/>
            <a:ext cx="855900" cy="1209300"/>
          </a:xfrm>
          <a:prstGeom prst="straightConnector1">
            <a:avLst/>
          </a:prstGeom>
          <a:noFill/>
          <a:ln cap="flat" cmpd="sng" w="35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20"/>
          <p:cNvCxnSpPr>
            <a:stCxn id="180" idx="2"/>
            <a:endCxn id="187" idx="0"/>
          </p:cNvCxnSpPr>
          <p:nvPr/>
        </p:nvCxnSpPr>
        <p:spPr>
          <a:xfrm flipH="1">
            <a:off x="4501695" y="2232208"/>
            <a:ext cx="3423300" cy="1209300"/>
          </a:xfrm>
          <a:prstGeom prst="straightConnector1">
            <a:avLst/>
          </a:prstGeom>
          <a:noFill/>
          <a:ln cap="flat" cmpd="sng" w="35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" name="Google Shape;187;p20"/>
          <p:cNvSpPr/>
          <p:nvPr/>
        </p:nvSpPr>
        <p:spPr>
          <a:xfrm>
            <a:off x="4146521" y="3441608"/>
            <a:ext cx="710100" cy="71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T</a:t>
            </a:r>
            <a:endParaRPr sz="1010"/>
          </a:p>
        </p:txBody>
      </p:sp>
      <p:sp>
        <p:nvSpPr>
          <p:cNvPr id="190" name="Google Shape;190;p20"/>
          <p:cNvSpPr/>
          <p:nvPr/>
        </p:nvSpPr>
        <p:spPr>
          <a:xfrm>
            <a:off x="5002367" y="3438643"/>
            <a:ext cx="710100" cy="7101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latin typeface="Lobster"/>
                <a:ea typeface="Lobster"/>
                <a:cs typeface="Lobster"/>
                <a:sym typeface="Lobster"/>
              </a:rPr>
              <a:t>e</a:t>
            </a:r>
            <a:endParaRPr sz="346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6714058" y="3438643"/>
            <a:ext cx="710100" cy="7101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latin typeface="Lobster"/>
                <a:ea typeface="Lobster"/>
                <a:cs typeface="Lobster"/>
                <a:sym typeface="Lobster"/>
              </a:rPr>
              <a:t>t</a:t>
            </a:r>
            <a:endParaRPr sz="346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7569945" y="3438643"/>
            <a:ext cx="710100" cy="7101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e</a:t>
            </a:r>
            <a:endParaRPr sz="1010"/>
          </a:p>
        </p:txBody>
      </p:sp>
      <p:sp>
        <p:nvSpPr>
          <p:cNvPr id="193" name="Google Shape;193;p20"/>
          <p:cNvSpPr/>
          <p:nvPr/>
        </p:nvSpPr>
        <p:spPr>
          <a:xfrm>
            <a:off x="4146521" y="3438643"/>
            <a:ext cx="710100" cy="710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6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5274" rotWithShape="0" algn="bl" dir="8340000" dist="323100">
              <a:srgbClr val="FF9900">
                <a:alpha val="0"/>
              </a:srgbClr>
            </a:outerShdw>
          </a:effectLst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46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T</a:t>
            </a:r>
            <a:endParaRPr sz="101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/>
          <p:nvPr/>
        </p:nvSpPr>
        <p:spPr>
          <a:xfrm>
            <a:off x="1656936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p</a:t>
            </a:r>
            <a:endParaRPr sz="815"/>
          </a:p>
        </p:txBody>
      </p:sp>
      <p:sp>
        <p:nvSpPr>
          <p:cNvPr id="199" name="Google Shape;199;p21"/>
          <p:cNvSpPr/>
          <p:nvPr/>
        </p:nvSpPr>
        <p:spPr>
          <a:xfrm>
            <a:off x="2936078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e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357565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n</a:t>
            </a:r>
            <a:endParaRPr sz="815"/>
          </a:p>
        </p:txBody>
      </p:sp>
      <p:sp>
        <p:nvSpPr>
          <p:cNvPr id="201" name="Google Shape;201;p21"/>
          <p:cNvSpPr/>
          <p:nvPr/>
        </p:nvSpPr>
        <p:spPr>
          <a:xfrm>
            <a:off x="2296489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r</a:t>
            </a:r>
            <a:endParaRPr sz="815"/>
          </a:p>
        </p:txBody>
      </p:sp>
      <p:sp>
        <p:nvSpPr>
          <p:cNvPr id="202" name="Google Shape;202;p21"/>
          <p:cNvSpPr/>
          <p:nvPr/>
        </p:nvSpPr>
        <p:spPr>
          <a:xfrm>
            <a:off x="4215228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t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485481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i</a:t>
            </a:r>
            <a:endParaRPr sz="815"/>
          </a:p>
        </p:txBody>
      </p:sp>
      <p:sp>
        <p:nvSpPr>
          <p:cNvPr id="204" name="Google Shape;204;p21"/>
          <p:cNvSpPr/>
          <p:nvPr/>
        </p:nvSpPr>
        <p:spPr>
          <a:xfrm>
            <a:off x="741310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e</a:t>
            </a:r>
            <a:endParaRPr sz="815"/>
          </a:p>
        </p:txBody>
      </p:sp>
      <p:sp>
        <p:nvSpPr>
          <p:cNvPr id="205" name="Google Shape;205;p21"/>
          <p:cNvSpPr/>
          <p:nvPr/>
        </p:nvSpPr>
        <p:spPr>
          <a:xfrm>
            <a:off x="101735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p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377764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A</a:t>
            </a:r>
            <a:endParaRPr sz="2794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613395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s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6773526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g</a:t>
            </a:r>
            <a:endParaRPr sz="815"/>
          </a:p>
        </p:txBody>
      </p:sp>
      <p:sp>
        <p:nvSpPr>
          <p:cNvPr id="209" name="Google Shape;209;p21"/>
          <p:cNvSpPr/>
          <p:nvPr/>
        </p:nvSpPr>
        <p:spPr>
          <a:xfrm>
            <a:off x="5494364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s</a:t>
            </a:r>
            <a:endParaRPr sz="815"/>
          </a:p>
        </p:txBody>
      </p:sp>
      <p:sp>
        <p:nvSpPr>
          <p:cNvPr id="210" name="Google Shape;210;p21"/>
          <p:cNvSpPr txBox="1"/>
          <p:nvPr>
            <p:ph idx="1" type="body"/>
          </p:nvPr>
        </p:nvSpPr>
        <p:spPr>
          <a:xfrm>
            <a:off x="311700" y="1152475"/>
            <a:ext cx="8520600" cy="38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6AA84F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s" sz="2500">
                <a:solidFill>
                  <a:schemeClr val="dk1"/>
                </a:solidFill>
              </a:rPr>
              <a:t>Découverte et utilisation de Pygame comme outil de création d'interfaces utilisateur.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s" sz="2500">
                <a:solidFill>
                  <a:schemeClr val="dk1"/>
                </a:solidFill>
              </a:rPr>
              <a:t>Découverte et utilisation de Termcolor module comme outil pour faire de prints avec couleur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/>
          <p:nvPr/>
        </p:nvSpPr>
        <p:spPr>
          <a:xfrm>
            <a:off x="1656936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 é</a:t>
            </a:r>
            <a:endParaRPr sz="815"/>
          </a:p>
        </p:txBody>
      </p:sp>
      <p:sp>
        <p:nvSpPr>
          <p:cNvPr id="216" name="Google Shape;216;p22"/>
          <p:cNvSpPr/>
          <p:nvPr/>
        </p:nvSpPr>
        <p:spPr>
          <a:xfrm>
            <a:off x="2936078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i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357565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o</a:t>
            </a:r>
            <a:endParaRPr sz="815"/>
          </a:p>
        </p:txBody>
      </p:sp>
      <p:sp>
        <p:nvSpPr>
          <p:cNvPr id="218" name="Google Shape;218;p22"/>
          <p:cNvSpPr/>
          <p:nvPr/>
        </p:nvSpPr>
        <p:spPr>
          <a:xfrm>
            <a:off x="2296489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l</a:t>
            </a:r>
            <a:endParaRPr sz="815"/>
          </a:p>
        </p:txBody>
      </p:sp>
      <p:sp>
        <p:nvSpPr>
          <p:cNvPr id="219" name="Google Shape;219;p22"/>
          <p:cNvSpPr/>
          <p:nvPr/>
        </p:nvSpPr>
        <p:spPr>
          <a:xfrm>
            <a:off x="4215228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r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485481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a</a:t>
            </a:r>
            <a:endParaRPr sz="815"/>
          </a:p>
        </p:txBody>
      </p:sp>
      <p:sp>
        <p:nvSpPr>
          <p:cNvPr id="221" name="Google Shape;221;p22"/>
          <p:cNvSpPr/>
          <p:nvPr/>
        </p:nvSpPr>
        <p:spPr>
          <a:xfrm>
            <a:off x="7413101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n</a:t>
            </a:r>
            <a:endParaRPr sz="815"/>
          </a:p>
        </p:txBody>
      </p:sp>
      <p:sp>
        <p:nvSpPr>
          <p:cNvPr id="222" name="Google Shape;222;p22"/>
          <p:cNvSpPr/>
          <p:nvPr/>
        </p:nvSpPr>
        <p:spPr>
          <a:xfrm>
            <a:off x="8052676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s</a:t>
            </a:r>
            <a:endParaRPr sz="815"/>
          </a:p>
        </p:txBody>
      </p:sp>
      <p:sp>
        <p:nvSpPr>
          <p:cNvPr id="223" name="Google Shape;223;p22"/>
          <p:cNvSpPr/>
          <p:nvPr/>
        </p:nvSpPr>
        <p:spPr>
          <a:xfrm>
            <a:off x="101735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m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377764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A</a:t>
            </a:r>
            <a:endParaRPr sz="2794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6133953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i</a:t>
            </a:r>
            <a:endParaRPr sz="2794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6773526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latin typeface="Lobster"/>
                <a:ea typeface="Lobster"/>
                <a:cs typeface="Lobster"/>
                <a:sym typeface="Lobster"/>
              </a:rPr>
              <a:t>o</a:t>
            </a:r>
            <a:endParaRPr sz="815"/>
          </a:p>
        </p:txBody>
      </p:sp>
      <p:sp>
        <p:nvSpPr>
          <p:cNvPr id="227" name="Google Shape;227;p22"/>
          <p:cNvSpPr/>
          <p:nvPr/>
        </p:nvSpPr>
        <p:spPr>
          <a:xfrm>
            <a:off x="5494364" y="445000"/>
            <a:ext cx="572700" cy="572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55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407528" rotWithShape="0" algn="bl" dir="8340000" dist="260596">
              <a:srgbClr val="FF9900">
                <a:alpha val="0"/>
              </a:srgbClr>
            </a:outerShdw>
          </a:effectLst>
        </p:spPr>
        <p:txBody>
          <a:bodyPr anchorCtr="0" anchor="ctr" bIns="53225" lIns="53225" spcFirstLastPara="1" rIns="53225" wrap="square" tIns="53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94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t</a:t>
            </a:r>
            <a:endParaRPr sz="815"/>
          </a:p>
        </p:txBody>
      </p:sp>
      <p:sp>
        <p:nvSpPr>
          <p:cNvPr id="228" name="Google Shape;228;p22"/>
          <p:cNvSpPr txBox="1"/>
          <p:nvPr>
            <p:ph idx="1" type="body"/>
          </p:nvPr>
        </p:nvSpPr>
        <p:spPr>
          <a:xfrm>
            <a:off x="311700" y="1152475"/>
            <a:ext cx="8520600" cy="38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6AA84F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s" sz="2500">
                <a:solidFill>
                  <a:schemeClr val="dk1"/>
                </a:solidFill>
              </a:rPr>
              <a:t>Intégrer le clavier à l'interface utilisateur afin que la sélection des lettres puisse se faire soit à l'aide du clavier, soit à l'aide de la souris.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s" sz="2500">
                <a:solidFill>
                  <a:schemeClr val="dk1"/>
                </a:solidFill>
              </a:rPr>
              <a:t>Ajouter la possibilité de choisir la langue du jeu.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s" sz="2500">
                <a:solidFill>
                  <a:schemeClr val="dk1"/>
                </a:solidFill>
              </a:rPr>
              <a:t>Vérifie que le mot est un mot valide dans la langage choisi.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s" sz="2500">
                <a:solidFill>
                  <a:schemeClr val="dk1"/>
                </a:solidFill>
              </a:rPr>
              <a:t>Sauvegarde les scores.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"/>
          <p:cNvSpPr/>
          <p:nvPr/>
        </p:nvSpPr>
        <p:spPr>
          <a:xfrm>
            <a:off x="402375" y="1972350"/>
            <a:ext cx="1198800" cy="1198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16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853153" rotWithShape="0" algn="bl" dir="8340000" dist="545554">
              <a:srgbClr val="FF9900">
                <a:alpha val="0"/>
              </a:srgbClr>
            </a:outerShdw>
          </a:effectLst>
        </p:spPr>
        <p:txBody>
          <a:bodyPr anchorCtr="0" anchor="ctr" bIns="111425" lIns="111425" spcFirstLastPara="1" rIns="111425" wrap="square" tIns="11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849">
                <a:latin typeface="Lobster"/>
                <a:ea typeface="Lobster"/>
                <a:cs typeface="Lobster"/>
                <a:sym typeface="Lobster"/>
              </a:rPr>
              <a:t>D</a:t>
            </a:r>
            <a:endParaRPr sz="5849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1830465" y="1972350"/>
            <a:ext cx="1198800" cy="1198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16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853153" rotWithShape="0" algn="bl" dir="8340000" dist="545554">
              <a:srgbClr val="FF9900">
                <a:alpha val="0"/>
              </a:srgbClr>
            </a:outerShdw>
          </a:effectLst>
        </p:spPr>
        <p:txBody>
          <a:bodyPr anchorCtr="0" anchor="ctr" bIns="111425" lIns="111425" spcFirstLastPara="1" rIns="111425" wrap="square" tIns="11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1"/>
              <a:buFont typeface="Arial"/>
              <a:buNone/>
            </a:pPr>
            <a:r>
              <a:rPr lang="es" sz="5849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e</a:t>
            </a:r>
            <a:endParaRPr sz="1706"/>
          </a:p>
        </p:txBody>
      </p:sp>
      <p:sp>
        <p:nvSpPr>
          <p:cNvPr id="235" name="Google Shape;235;p23"/>
          <p:cNvSpPr/>
          <p:nvPr/>
        </p:nvSpPr>
        <p:spPr>
          <a:xfrm>
            <a:off x="3258556" y="1972350"/>
            <a:ext cx="1198800" cy="1198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853153" rotWithShape="0" algn="bl" dir="8340000" dist="545554">
              <a:srgbClr val="FF9900">
                <a:alpha val="0"/>
              </a:srgbClr>
            </a:outerShdw>
          </a:effectLst>
        </p:spPr>
        <p:txBody>
          <a:bodyPr anchorCtr="0" anchor="ctr" bIns="111425" lIns="111425" spcFirstLastPara="1" rIns="111425" wrap="square" tIns="11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1"/>
              <a:buFont typeface="Arial"/>
              <a:buNone/>
            </a:pPr>
            <a:r>
              <a:rPr lang="es" sz="5849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m</a:t>
            </a:r>
            <a:endParaRPr sz="1706"/>
          </a:p>
        </p:txBody>
      </p:sp>
      <p:sp>
        <p:nvSpPr>
          <p:cNvPr id="236" name="Google Shape;236;p23"/>
          <p:cNvSpPr/>
          <p:nvPr/>
        </p:nvSpPr>
        <p:spPr>
          <a:xfrm>
            <a:off x="4686646" y="1972350"/>
            <a:ext cx="1198800" cy="1198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16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853153" rotWithShape="0" algn="bl" dir="8340000" dist="545554">
              <a:srgbClr val="FF9900">
                <a:alpha val="0"/>
              </a:srgbClr>
            </a:outerShdw>
          </a:effectLst>
        </p:spPr>
        <p:txBody>
          <a:bodyPr anchorCtr="0" anchor="ctr" bIns="111425" lIns="111425" spcFirstLastPara="1" rIns="111425" wrap="square" tIns="11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1"/>
              <a:buFont typeface="Arial"/>
              <a:buNone/>
            </a:pPr>
            <a:r>
              <a:rPr lang="es" sz="5849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o</a:t>
            </a:r>
            <a:endParaRPr sz="1706"/>
          </a:p>
        </p:txBody>
      </p:sp>
      <p:grpSp>
        <p:nvGrpSpPr>
          <p:cNvPr id="237" name="Google Shape;237;p23"/>
          <p:cNvGrpSpPr/>
          <p:nvPr/>
        </p:nvGrpSpPr>
        <p:grpSpPr>
          <a:xfrm>
            <a:off x="7542827" y="1972350"/>
            <a:ext cx="1198800" cy="1198800"/>
            <a:chOff x="7542827" y="1972350"/>
            <a:chExt cx="1198800" cy="1198800"/>
          </a:xfrm>
        </p:grpSpPr>
        <p:sp>
          <p:nvSpPr>
            <p:cNvPr id="238" name="Google Shape;238;p23"/>
            <p:cNvSpPr/>
            <p:nvPr/>
          </p:nvSpPr>
          <p:spPr>
            <a:xfrm>
              <a:off x="7542827" y="1972350"/>
              <a:ext cx="1198800" cy="1198800"/>
            </a:xfrm>
            <a:prstGeom prst="roundRect">
              <a:avLst>
                <a:gd fmla="val 16667" name="adj"/>
              </a:avLst>
            </a:prstGeom>
            <a:solidFill>
              <a:srgbClr val="FFD966"/>
            </a:solidFill>
            <a:ln>
              <a:noFill/>
            </a:ln>
            <a:effectLst>
              <a:outerShdw blurRad="853153" rotWithShape="0" algn="bl" dir="8340000" dist="545554">
                <a:srgbClr val="FF9900">
                  <a:alpha val="0"/>
                </a:srgbClr>
              </a:outerShdw>
            </a:effectLst>
          </p:spPr>
          <p:txBody>
            <a:bodyPr anchorCtr="0" anchor="ctr" bIns="111425" lIns="111425" spcFirstLastPara="1" rIns="111425" wrap="square" tIns="11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6"/>
            </a:p>
          </p:txBody>
        </p:sp>
        <p:cxnSp>
          <p:nvCxnSpPr>
            <p:cNvPr id="239" name="Google Shape;239;p23"/>
            <p:cNvCxnSpPr/>
            <p:nvPr/>
          </p:nvCxnSpPr>
          <p:spPr>
            <a:xfrm>
              <a:off x="7703327" y="2571150"/>
              <a:ext cx="877800" cy="120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40" name="Google Shape;240;p23"/>
          <p:cNvGrpSpPr/>
          <p:nvPr/>
        </p:nvGrpSpPr>
        <p:grpSpPr>
          <a:xfrm>
            <a:off x="6114736" y="1972350"/>
            <a:ext cx="1198800" cy="1198800"/>
            <a:chOff x="6114736" y="1972350"/>
            <a:chExt cx="1198800" cy="1198800"/>
          </a:xfrm>
        </p:grpSpPr>
        <p:sp>
          <p:nvSpPr>
            <p:cNvPr id="241" name="Google Shape;241;p23"/>
            <p:cNvSpPr/>
            <p:nvPr/>
          </p:nvSpPr>
          <p:spPr>
            <a:xfrm>
              <a:off x="6114736" y="1972350"/>
              <a:ext cx="1198800" cy="1198800"/>
            </a:xfrm>
            <a:prstGeom prst="roundRect">
              <a:avLst>
                <a:gd fmla="val 16667" name="adj"/>
              </a:avLst>
            </a:prstGeom>
            <a:solidFill>
              <a:srgbClr val="999999"/>
            </a:solidFill>
            <a:ln>
              <a:noFill/>
            </a:ln>
            <a:effectLst>
              <a:outerShdw blurRad="853153" rotWithShape="0" algn="bl" dir="8340000" dist="545554">
                <a:srgbClr val="FF9900">
                  <a:alpha val="0"/>
                </a:srgbClr>
              </a:outerShdw>
            </a:effectLst>
          </p:spPr>
          <p:txBody>
            <a:bodyPr anchorCtr="0" anchor="ctr" bIns="111425" lIns="111425" spcFirstLastPara="1" rIns="111425" wrap="square" tIns="11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41"/>
                <a:buFont typeface="Arial"/>
                <a:buNone/>
              </a:pPr>
              <a:r>
                <a:t/>
              </a:r>
              <a:endParaRPr sz="1706"/>
            </a:p>
          </p:txBody>
        </p:sp>
        <p:cxnSp>
          <p:nvCxnSpPr>
            <p:cNvPr id="242" name="Google Shape;242;p23"/>
            <p:cNvCxnSpPr/>
            <p:nvPr/>
          </p:nvCxnSpPr>
          <p:spPr>
            <a:xfrm>
              <a:off x="6275239" y="2571150"/>
              <a:ext cx="877800" cy="120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"/>
          <p:cNvSpPr/>
          <p:nvPr/>
        </p:nvSpPr>
        <p:spPr>
          <a:xfrm>
            <a:off x="402375" y="1972350"/>
            <a:ext cx="1198800" cy="1198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16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853153" rotWithShape="0" algn="bl" dir="8340000" dist="545554">
              <a:srgbClr val="FF9900">
                <a:alpha val="0"/>
              </a:srgbClr>
            </a:outerShdw>
          </a:effectLst>
        </p:spPr>
        <p:txBody>
          <a:bodyPr anchorCtr="0" anchor="ctr" bIns="111425" lIns="111425" spcFirstLastPara="1" rIns="111425" wrap="square" tIns="11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849">
                <a:latin typeface="Lobster"/>
                <a:ea typeface="Lobster"/>
                <a:cs typeface="Lobster"/>
                <a:sym typeface="Lobster"/>
              </a:rPr>
              <a:t>M</a:t>
            </a:r>
            <a:endParaRPr sz="5849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1830465" y="1972350"/>
            <a:ext cx="1198800" cy="1198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16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853153" rotWithShape="0" algn="bl" dir="8340000" dist="545554">
              <a:srgbClr val="FF9900">
                <a:alpha val="0"/>
              </a:srgbClr>
            </a:outerShdw>
          </a:effectLst>
        </p:spPr>
        <p:txBody>
          <a:bodyPr anchorCtr="0" anchor="ctr" bIns="111425" lIns="111425" spcFirstLastPara="1" rIns="111425" wrap="square" tIns="11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1"/>
              <a:buFont typeface="Arial"/>
              <a:buNone/>
            </a:pPr>
            <a:r>
              <a:rPr lang="es" sz="5849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e</a:t>
            </a:r>
            <a:endParaRPr sz="1706"/>
          </a:p>
        </p:txBody>
      </p:sp>
      <p:sp>
        <p:nvSpPr>
          <p:cNvPr id="249" name="Google Shape;249;p24"/>
          <p:cNvSpPr/>
          <p:nvPr/>
        </p:nvSpPr>
        <p:spPr>
          <a:xfrm>
            <a:off x="3258556" y="1972350"/>
            <a:ext cx="1198800" cy="1198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853153" rotWithShape="0" algn="bl" dir="8340000" dist="545554">
              <a:srgbClr val="FF9900">
                <a:alpha val="0"/>
              </a:srgbClr>
            </a:outerShdw>
          </a:effectLst>
        </p:spPr>
        <p:txBody>
          <a:bodyPr anchorCtr="0" anchor="ctr" bIns="111425" lIns="111425" spcFirstLastPara="1" rIns="111425" wrap="square" tIns="11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1"/>
              <a:buFont typeface="Arial"/>
              <a:buNone/>
            </a:pPr>
            <a:r>
              <a:rPr lang="es" sz="5849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r</a:t>
            </a:r>
            <a:endParaRPr sz="1706"/>
          </a:p>
        </p:txBody>
      </p:sp>
      <p:sp>
        <p:nvSpPr>
          <p:cNvPr id="250" name="Google Shape;250;p24"/>
          <p:cNvSpPr/>
          <p:nvPr/>
        </p:nvSpPr>
        <p:spPr>
          <a:xfrm>
            <a:off x="4686646" y="1972350"/>
            <a:ext cx="1198800" cy="1198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16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  <a:effectLst>
            <a:outerShdw blurRad="853153" rotWithShape="0" algn="bl" dir="8340000" dist="545554">
              <a:srgbClr val="FF9900">
                <a:alpha val="0"/>
              </a:srgbClr>
            </a:outerShdw>
          </a:effectLst>
        </p:spPr>
        <p:txBody>
          <a:bodyPr anchorCtr="0" anchor="ctr" bIns="111425" lIns="111425" spcFirstLastPara="1" rIns="111425" wrap="square" tIns="11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1"/>
              <a:buFont typeface="Arial"/>
              <a:buNone/>
            </a:pPr>
            <a:r>
              <a:rPr lang="es" sz="5849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c</a:t>
            </a:r>
            <a:endParaRPr sz="1706"/>
          </a:p>
        </p:txBody>
      </p:sp>
      <p:sp>
        <p:nvSpPr>
          <p:cNvPr id="251" name="Google Shape;251;p24"/>
          <p:cNvSpPr/>
          <p:nvPr/>
        </p:nvSpPr>
        <p:spPr>
          <a:xfrm>
            <a:off x="6114736" y="1972350"/>
            <a:ext cx="1198800" cy="11988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  <a:effectLst>
            <a:outerShdw blurRad="853153" rotWithShape="0" algn="bl" dir="8340000" dist="545554">
              <a:srgbClr val="FF9900">
                <a:alpha val="0"/>
              </a:srgbClr>
            </a:outerShdw>
          </a:effectLst>
        </p:spPr>
        <p:txBody>
          <a:bodyPr anchorCtr="0" anchor="ctr" bIns="111425" lIns="111425" spcFirstLastPara="1" rIns="111425" wrap="square" tIns="11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41"/>
              <a:buFont typeface="Arial"/>
              <a:buNone/>
            </a:pPr>
            <a:r>
              <a:rPr lang="es" sz="5849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i</a:t>
            </a:r>
            <a:endParaRPr sz="1706"/>
          </a:p>
        </p:txBody>
      </p:sp>
      <p:sp>
        <p:nvSpPr>
          <p:cNvPr id="252" name="Google Shape;252;p24"/>
          <p:cNvSpPr/>
          <p:nvPr/>
        </p:nvSpPr>
        <p:spPr>
          <a:xfrm>
            <a:off x="7542827" y="1972350"/>
            <a:ext cx="1198800" cy="1198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853153" rotWithShape="0" algn="bl" dir="8340000" dist="545554">
              <a:srgbClr val="FF9900">
                <a:alpha val="0"/>
              </a:srgbClr>
            </a:outerShdw>
          </a:effectLst>
        </p:spPr>
        <p:txBody>
          <a:bodyPr anchorCtr="0" anchor="ctr" bIns="111425" lIns="111425" spcFirstLastPara="1" rIns="111425" wrap="square" tIns="11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849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!</a:t>
            </a:r>
            <a:endParaRPr sz="1706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