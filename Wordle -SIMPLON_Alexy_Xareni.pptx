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obster"/>
      <p:regular r:id="rId18"/>
    </p:embeddedFont>
    <p:embeddedFont>
      <p:font typeface="Amaranth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ranth-bold.fntdata"/><Relationship Id="rId11" Type="http://schemas.openxmlformats.org/officeDocument/2006/relationships/slide" Target="slides/slide6.xml"/><Relationship Id="rId22" Type="http://schemas.openxmlformats.org/officeDocument/2006/relationships/font" Target="fonts/Amaranth-boldItalic.fntdata"/><Relationship Id="rId10" Type="http://schemas.openxmlformats.org/officeDocument/2006/relationships/slide" Target="slides/slide5.xml"/><Relationship Id="rId21" Type="http://schemas.openxmlformats.org/officeDocument/2006/relationships/font" Target="fonts/Amaranth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maranth-regular.fntdata"/><Relationship Id="rId6" Type="http://schemas.openxmlformats.org/officeDocument/2006/relationships/slide" Target="slides/slide1.xml"/><Relationship Id="rId18" Type="http://schemas.openxmlformats.org/officeDocument/2006/relationships/font" Target="fonts/Lobs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7f59c602b2d9289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7f59c602b2d9289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6eb70a448ad9c1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6eb70a448ad9c1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7f59c602b2d9289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7f59c602b2d9289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7f59c602b2d9289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7f59c602b2d928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7f59c602b2d9289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7f59c602b2d9289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7f59c602b2d9289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7f59c602b2d9289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6eb70a448ad9c1c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6eb70a448ad9c1c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6eb70a448ad9c1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6eb70a448ad9c1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6eb70a448ad9c1c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6eb70a448ad9c1c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6eb70a448ad9c1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6eb70a448ad9c1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6eb70a448ad9c1c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6eb70a448ad9c1c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283975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latin typeface="Lobster"/>
                <a:ea typeface="Lobster"/>
                <a:cs typeface="Lobster"/>
                <a:sym typeface="Lobster"/>
              </a:rPr>
              <a:t>W</a:t>
            </a:r>
            <a:endParaRPr sz="48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455850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o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627725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799600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d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5971475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143350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3505500" y="2571750"/>
            <a:ext cx="213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Amaranth"/>
                <a:ea typeface="Amaranth"/>
                <a:cs typeface="Amaranth"/>
                <a:sym typeface="Amaranth"/>
              </a:rPr>
              <a:t>U</a:t>
            </a:r>
            <a:r>
              <a:rPr lang="es" sz="2400">
                <a:latin typeface="Amaranth"/>
                <a:ea typeface="Amaranth"/>
                <a:cs typeface="Amaranth"/>
                <a:sym typeface="Amaranth"/>
              </a:rPr>
              <a:t>n jeu de mots</a:t>
            </a:r>
            <a:endParaRPr sz="2400">
              <a:latin typeface="Amaranth"/>
              <a:ea typeface="Amaranth"/>
              <a:cs typeface="Amaranth"/>
              <a:sym typeface="Amaranth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175375" y="3641425"/>
            <a:ext cx="156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Alexy Catelle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93650" y="3641450"/>
            <a:ext cx="164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Xareni Galindo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571750"/>
            <a:ext cx="8520600" cy="31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Ce jeu nous permet de </a:t>
            </a:r>
            <a:r>
              <a:rPr lang="es" sz="2300">
                <a:solidFill>
                  <a:schemeClr val="dk1"/>
                </a:solidFill>
              </a:rPr>
              <a:t>appliquer</a:t>
            </a:r>
            <a:r>
              <a:rPr lang="es" sz="2300">
                <a:solidFill>
                  <a:schemeClr val="dk1"/>
                </a:solidFill>
              </a:rPr>
              <a:t> les différents éléments du codage en Python appris pendant la première semaine: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s" sz="2300">
                <a:solidFill>
                  <a:schemeClr val="dk1"/>
                </a:solidFill>
              </a:rPr>
              <a:t>Les boucles (while, for) et conditions (if).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s" sz="2300">
                <a:solidFill>
                  <a:schemeClr val="dk1"/>
                </a:solidFill>
              </a:rPr>
              <a:t>Travailler avec de listes et grand volume des données.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11692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M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993853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70" name="Google Shape;70;p14"/>
          <p:cNvSpPr/>
          <p:nvPr/>
        </p:nvSpPr>
        <p:spPr>
          <a:xfrm>
            <a:off x="1676015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71" name="Google Shape;71;p14"/>
          <p:cNvSpPr/>
          <p:nvPr/>
        </p:nvSpPr>
        <p:spPr>
          <a:xfrm>
            <a:off x="3722550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72" name="Google Shape;72;p14"/>
          <p:cNvSpPr/>
          <p:nvPr/>
        </p:nvSpPr>
        <p:spPr>
          <a:xfrm>
            <a:off x="4404711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73" name="Google Shape;73;p14"/>
          <p:cNvSpPr/>
          <p:nvPr/>
        </p:nvSpPr>
        <p:spPr>
          <a:xfrm>
            <a:off x="5086851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74" name="Google Shape;74;p14"/>
          <p:cNvSpPr/>
          <p:nvPr/>
        </p:nvSpPr>
        <p:spPr>
          <a:xfrm>
            <a:off x="3040378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v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358190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76" name="Google Shape;76;p14"/>
          <p:cNvSpPr/>
          <p:nvPr/>
        </p:nvSpPr>
        <p:spPr>
          <a:xfrm>
            <a:off x="6408576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77" name="Google Shape;77;p14"/>
          <p:cNvSpPr/>
          <p:nvPr/>
        </p:nvSpPr>
        <p:spPr>
          <a:xfrm>
            <a:off x="5769001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993350"/>
            <a:ext cx="8520600" cy="11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Deviner un mot de 2 à 21 lettres en 6 essais maximum. En utilisant des mots existants de la langue française.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9321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B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6142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</a:t>
            </a:r>
            <a:endParaRPr sz="815"/>
          </a:p>
        </p:txBody>
      </p:sp>
      <p:sp>
        <p:nvSpPr>
          <p:cNvPr id="85" name="Google Shape;85;p15"/>
          <p:cNvSpPr/>
          <p:nvPr/>
        </p:nvSpPr>
        <p:spPr>
          <a:xfrm>
            <a:off x="32964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86" name="Google Shape;86;p15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87" name="Google Shape;87;p15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27910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R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4731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94" name="Google Shape;94;p16"/>
          <p:cNvSpPr/>
          <p:nvPr/>
        </p:nvSpPr>
        <p:spPr>
          <a:xfrm>
            <a:off x="16760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95" name="Google Shape;95;p16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96" name="Google Shape;96;p16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97" name="Google Shape;97;p16"/>
          <p:cNvSpPr/>
          <p:nvPr/>
        </p:nvSpPr>
        <p:spPr>
          <a:xfrm>
            <a:off x="4155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g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83751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99" name="Google Shape;99;p16"/>
          <p:cNvSpPr/>
          <p:nvPr/>
        </p:nvSpPr>
        <p:spPr>
          <a:xfrm>
            <a:off x="551967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100" name="Google Shape;100;p16"/>
          <p:cNvSpPr txBox="1"/>
          <p:nvPr/>
        </p:nvSpPr>
        <p:spPr>
          <a:xfrm>
            <a:off x="311700" y="1619000"/>
            <a:ext cx="8130900" cy="3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Les  mots</a:t>
            </a:r>
            <a:r>
              <a:rPr lang="es" sz="2050">
                <a:solidFill>
                  <a:schemeClr val="dk1"/>
                </a:solidFill>
              </a:rPr>
              <a:t> : chaque tentative doit correspondre à un mot de la  </a:t>
            </a:r>
            <a:r>
              <a:rPr lang="es" sz="2050">
                <a:solidFill>
                  <a:schemeClr val="dk1"/>
                </a:solidFill>
              </a:rPr>
              <a:t>longueur</a:t>
            </a:r>
            <a:r>
              <a:rPr lang="es" sz="2050">
                <a:solidFill>
                  <a:schemeClr val="dk1"/>
                </a:solidFill>
              </a:rPr>
              <a:t> </a:t>
            </a:r>
            <a:r>
              <a:rPr lang="es" sz="2050">
                <a:solidFill>
                  <a:schemeClr val="dk1"/>
                </a:solidFill>
              </a:rPr>
              <a:t>choisie</a:t>
            </a:r>
            <a:r>
              <a:rPr lang="es" sz="2050">
                <a:solidFill>
                  <a:schemeClr val="dk1"/>
                </a:solidFill>
              </a:rPr>
              <a:t>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Tentatives : vous disposez de 6 tentatives pour saisir des mots et obtenir des indices.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🟩 Vert : la lettre se trouve dans le mot et à la bonne place.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🟨 Jaune : la lettre se trouve dans le mot, mais à la mauvaise place.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⬛ Gris (ou noir) : la lettre ne fait pas partie du mot caché.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37224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ô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35814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107" name="Google Shape;107;p17"/>
          <p:cNvSpPr/>
          <p:nvPr/>
        </p:nvSpPr>
        <p:spPr>
          <a:xfrm>
            <a:off x="16760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108" name="Google Shape;108;p17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09" name="Google Shape;109;p17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110" name="Google Shape;110;p17"/>
          <p:cNvSpPr/>
          <p:nvPr/>
        </p:nvSpPr>
        <p:spPr>
          <a:xfrm>
            <a:off x="30403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r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40459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12" name="Google Shape;112;p17"/>
          <p:cNvSpPr/>
          <p:nvPr/>
        </p:nvSpPr>
        <p:spPr>
          <a:xfrm>
            <a:off x="50867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113" name="Google Shape;113;p17"/>
          <p:cNvSpPr/>
          <p:nvPr/>
        </p:nvSpPr>
        <p:spPr>
          <a:xfrm>
            <a:off x="57689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114" name="Google Shape;114;p17"/>
          <p:cNvSpPr txBox="1"/>
          <p:nvPr/>
        </p:nvSpPr>
        <p:spPr>
          <a:xfrm>
            <a:off x="311700" y="1432925"/>
            <a:ext cx="463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Clavier pour saisir les lettres</a:t>
            </a:r>
            <a:endParaRPr sz="1800"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32737" l="7705" r="8550" t="10241"/>
          <a:stretch/>
        </p:blipFill>
        <p:spPr>
          <a:xfrm>
            <a:off x="6109075" y="1750150"/>
            <a:ext cx="2626850" cy="239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700" y="2252351"/>
            <a:ext cx="4635900" cy="161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152475"/>
            <a:ext cx="85206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6AA84F"/>
                </a:solidFill>
              </a:rPr>
              <a:t>Victoire/défaite</a:t>
            </a:r>
            <a:endParaRPr b="1" sz="2500">
              <a:solidFill>
                <a:srgbClr val="6AA84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Le jeu se termine quand le joueur a trouvé le mot ou a épuisé ses 6 tours. </a:t>
            </a:r>
            <a:endParaRPr sz="2500">
              <a:solidFill>
                <a:schemeClr val="dk1"/>
              </a:solidFill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romanLcPeriod"/>
            </a:pPr>
            <a:r>
              <a:rPr lang="es" sz="2500">
                <a:solidFill>
                  <a:schemeClr val="dk1"/>
                </a:solidFill>
              </a:rPr>
              <a:t>Le joueur gagne s’il trouve le mot dans les 6 tours </a:t>
            </a:r>
            <a:endParaRPr sz="2500">
              <a:solidFill>
                <a:schemeClr val="dk1"/>
              </a:solidFill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romanLcPeriod"/>
            </a:pPr>
            <a:r>
              <a:rPr lang="es" sz="2500">
                <a:solidFill>
                  <a:schemeClr val="dk1"/>
                </a:solidFill>
              </a:rPr>
              <a:t>Le joueur perd s’il n’arrive pas à trouver le mot dans les 6 tours. </a:t>
            </a:r>
            <a:endParaRPr sz="2500"/>
          </a:p>
        </p:txBody>
      </p:sp>
      <p:sp>
        <p:nvSpPr>
          <p:cNvPr id="122" name="Google Shape;122;p18"/>
          <p:cNvSpPr/>
          <p:nvPr/>
        </p:nvSpPr>
        <p:spPr>
          <a:xfrm>
            <a:off x="37224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t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35814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d</a:t>
            </a:r>
            <a:endParaRPr sz="815"/>
          </a:p>
        </p:txBody>
      </p:sp>
      <p:sp>
        <p:nvSpPr>
          <p:cNvPr id="124" name="Google Shape;124;p18"/>
          <p:cNvSpPr/>
          <p:nvPr/>
        </p:nvSpPr>
        <p:spPr>
          <a:xfrm>
            <a:off x="16760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125" name="Google Shape;125;p18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26" name="Google Shape;126;p18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127" name="Google Shape;127;p18"/>
          <p:cNvSpPr/>
          <p:nvPr/>
        </p:nvSpPr>
        <p:spPr>
          <a:xfrm>
            <a:off x="30403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40459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129" name="Google Shape;129;p18"/>
          <p:cNvSpPr/>
          <p:nvPr/>
        </p:nvSpPr>
        <p:spPr>
          <a:xfrm>
            <a:off x="50867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130" name="Google Shape;130;p18"/>
          <p:cNvSpPr/>
          <p:nvPr/>
        </p:nvSpPr>
        <p:spPr>
          <a:xfrm>
            <a:off x="57689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131" name="Google Shape;131;p18"/>
          <p:cNvSpPr/>
          <p:nvPr/>
        </p:nvSpPr>
        <p:spPr>
          <a:xfrm>
            <a:off x="64510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27910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4731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g</a:t>
            </a:r>
            <a:endParaRPr sz="815"/>
          </a:p>
        </p:txBody>
      </p:sp>
      <p:sp>
        <p:nvSpPr>
          <p:cNvPr id="138" name="Google Shape;138;p19"/>
          <p:cNvSpPr/>
          <p:nvPr/>
        </p:nvSpPr>
        <p:spPr>
          <a:xfrm>
            <a:off x="21088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39" name="Google Shape;139;p19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40" name="Google Shape;140;p19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141" name="Google Shape;141;p19"/>
          <p:cNvSpPr/>
          <p:nvPr/>
        </p:nvSpPr>
        <p:spPr>
          <a:xfrm>
            <a:off x="4155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83751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43" name="Google Shape;143;p19"/>
          <p:cNvSpPr/>
          <p:nvPr/>
        </p:nvSpPr>
        <p:spPr>
          <a:xfrm>
            <a:off x="704148" y="1555256"/>
            <a:ext cx="1382700" cy="778800"/>
          </a:xfrm>
          <a:prstGeom prst="parallelogram">
            <a:avLst>
              <a:gd fmla="val 25000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Longueur</a:t>
            </a:r>
            <a:r>
              <a:rPr lang="es" sz="1200"/>
              <a:t> de mot à jouer</a:t>
            </a:r>
            <a:endParaRPr sz="1200"/>
          </a:p>
        </p:txBody>
      </p:sp>
      <p:sp>
        <p:nvSpPr>
          <p:cNvPr id="144" name="Google Shape;144;p19"/>
          <p:cNvSpPr/>
          <p:nvPr/>
        </p:nvSpPr>
        <p:spPr>
          <a:xfrm>
            <a:off x="565548" y="3805456"/>
            <a:ext cx="1659900" cy="817200"/>
          </a:xfrm>
          <a:prstGeom prst="parallelogram">
            <a:avLst>
              <a:gd fmla="val 25000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Sasi la mot du premier tentative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(mot tentative)</a:t>
            </a:r>
            <a:endParaRPr sz="1200"/>
          </a:p>
        </p:txBody>
      </p:sp>
      <p:sp>
        <p:nvSpPr>
          <p:cNvPr id="145" name="Google Shape;145;p19"/>
          <p:cNvSpPr/>
          <p:nvPr/>
        </p:nvSpPr>
        <p:spPr>
          <a:xfrm>
            <a:off x="758748" y="2711581"/>
            <a:ext cx="1273500" cy="6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Choisir une mot aléatoire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(mot cible)</a:t>
            </a:r>
            <a:endParaRPr sz="1200"/>
          </a:p>
        </p:txBody>
      </p:sp>
      <p:sp>
        <p:nvSpPr>
          <p:cNvPr id="146" name="Google Shape;146;p19"/>
          <p:cNvSpPr/>
          <p:nvPr/>
        </p:nvSpPr>
        <p:spPr>
          <a:xfrm>
            <a:off x="5260525" y="3868450"/>
            <a:ext cx="1699800" cy="69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Comparaison entre les lettres du mot cible et du mot tentative</a:t>
            </a:r>
            <a:r>
              <a:rPr lang="es"/>
              <a:t> 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280472" y="1835081"/>
            <a:ext cx="1659900" cy="8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Assignation de  couleurs pour chaque caractère du mot tentative*</a:t>
            </a:r>
            <a:endParaRPr sz="1200"/>
          </a:p>
        </p:txBody>
      </p:sp>
      <p:sp>
        <p:nvSpPr>
          <p:cNvPr id="148" name="Google Shape;148;p19"/>
          <p:cNvSpPr txBox="1"/>
          <p:nvPr/>
        </p:nvSpPr>
        <p:spPr>
          <a:xfrm>
            <a:off x="6477600" y="0"/>
            <a:ext cx="26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vert: character dans le meme position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jeune: character dans le mauvais position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gris : le character n’est pas dans le mot cible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7367997" y="1835081"/>
            <a:ext cx="1659900" cy="8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A</a:t>
            </a:r>
            <a:r>
              <a:rPr lang="es" sz="1100"/>
              <a:t>fficher le mot tentative, coloré en fonction de la catégorie de chaque lettre</a:t>
            </a:r>
            <a:endParaRPr sz="1100"/>
          </a:p>
        </p:txBody>
      </p:sp>
      <p:sp>
        <p:nvSpPr>
          <p:cNvPr id="150" name="Google Shape;150;p19"/>
          <p:cNvSpPr/>
          <p:nvPr/>
        </p:nvSpPr>
        <p:spPr>
          <a:xfrm>
            <a:off x="3260975" y="1273235"/>
            <a:ext cx="684300" cy="5727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Tu gagne </a:t>
            </a:r>
            <a:endParaRPr/>
          </a:p>
        </p:txBody>
      </p:sp>
      <p:cxnSp>
        <p:nvCxnSpPr>
          <p:cNvPr id="151" name="Google Shape;151;p19"/>
          <p:cNvCxnSpPr/>
          <p:nvPr/>
        </p:nvCxnSpPr>
        <p:spPr>
          <a:xfrm>
            <a:off x="1323223" y="3370381"/>
            <a:ext cx="0" cy="43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9"/>
          <p:cNvCxnSpPr/>
          <p:nvPr/>
        </p:nvCxnSpPr>
        <p:spPr>
          <a:xfrm flipH="1">
            <a:off x="1321722" y="2335631"/>
            <a:ext cx="3000" cy="34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19"/>
          <p:cNvSpPr txBox="1"/>
          <p:nvPr/>
        </p:nvSpPr>
        <p:spPr>
          <a:xfrm>
            <a:off x="3652399" y="2962500"/>
            <a:ext cx="169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2"/>
                </a:solidFill>
              </a:rPr>
              <a:t>mot cible = mot tentative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3594650" y="4417775"/>
            <a:ext cx="181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2"/>
                </a:solidFill>
              </a:rPr>
              <a:t>mot cible != mot tentative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260972" y="3884656"/>
            <a:ext cx="684300" cy="658800"/>
          </a:xfrm>
          <a:prstGeom prst="diamond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if</a:t>
            </a:r>
            <a:endParaRPr/>
          </a:p>
        </p:txBody>
      </p:sp>
      <p:cxnSp>
        <p:nvCxnSpPr>
          <p:cNvPr id="156" name="Google Shape;156;p19"/>
          <p:cNvCxnSpPr>
            <a:stCxn id="146" idx="0"/>
            <a:endCxn id="147" idx="2"/>
          </p:cNvCxnSpPr>
          <p:nvPr/>
        </p:nvCxnSpPr>
        <p:spPr>
          <a:xfrm rot="10800000">
            <a:off x="6110425" y="2652250"/>
            <a:ext cx="0" cy="12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9"/>
          <p:cNvCxnSpPr>
            <a:stCxn id="155" idx="3"/>
            <a:endCxn id="146" idx="1"/>
          </p:cNvCxnSpPr>
          <p:nvPr/>
        </p:nvCxnSpPr>
        <p:spPr>
          <a:xfrm>
            <a:off x="3945272" y="4214056"/>
            <a:ext cx="131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>
            <a:stCxn id="147" idx="3"/>
            <a:endCxn id="149" idx="1"/>
          </p:cNvCxnSpPr>
          <p:nvPr/>
        </p:nvCxnSpPr>
        <p:spPr>
          <a:xfrm>
            <a:off x="6940372" y="2243681"/>
            <a:ext cx="42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9"/>
          <p:cNvCxnSpPr>
            <a:stCxn id="144" idx="2"/>
            <a:endCxn id="155" idx="1"/>
          </p:cNvCxnSpPr>
          <p:nvPr/>
        </p:nvCxnSpPr>
        <p:spPr>
          <a:xfrm>
            <a:off x="2123298" y="4214056"/>
            <a:ext cx="113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9"/>
          <p:cNvCxnSpPr>
            <a:stCxn id="155" idx="0"/>
            <a:endCxn id="161" idx="2"/>
          </p:cNvCxnSpPr>
          <p:nvPr/>
        </p:nvCxnSpPr>
        <p:spPr>
          <a:xfrm rot="10800000">
            <a:off x="3603122" y="2918656"/>
            <a:ext cx="0" cy="9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19"/>
          <p:cNvSpPr/>
          <p:nvPr/>
        </p:nvSpPr>
        <p:spPr>
          <a:xfrm>
            <a:off x="2773185" y="2101456"/>
            <a:ext cx="1659900" cy="8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Assignation de la couleurs verte au mot tentative*</a:t>
            </a:r>
            <a:endParaRPr sz="1200"/>
          </a:p>
        </p:txBody>
      </p:sp>
      <p:cxnSp>
        <p:nvCxnSpPr>
          <p:cNvPr id="162" name="Google Shape;162;p19"/>
          <p:cNvCxnSpPr>
            <a:stCxn id="161" idx="0"/>
            <a:endCxn id="150" idx="2"/>
          </p:cNvCxnSpPr>
          <p:nvPr/>
        </p:nvCxnSpPr>
        <p:spPr>
          <a:xfrm rot="10800000">
            <a:off x="3603135" y="1845856"/>
            <a:ext cx="0" cy="2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9"/>
          <p:cNvCxnSpPr>
            <a:endCxn id="144" idx="3"/>
          </p:cNvCxnSpPr>
          <p:nvPr/>
        </p:nvCxnSpPr>
        <p:spPr>
          <a:xfrm flipH="1">
            <a:off x="1293348" y="2705656"/>
            <a:ext cx="6948900" cy="1917000"/>
          </a:xfrm>
          <a:prstGeom prst="bentConnector4">
            <a:avLst>
              <a:gd fmla="val -1" name="adj1"/>
              <a:gd fmla="val 11242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27910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34731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g</a:t>
            </a:r>
            <a:endParaRPr sz="815"/>
          </a:p>
        </p:txBody>
      </p:sp>
      <p:sp>
        <p:nvSpPr>
          <p:cNvPr id="170" name="Google Shape;170;p20"/>
          <p:cNvSpPr/>
          <p:nvPr/>
        </p:nvSpPr>
        <p:spPr>
          <a:xfrm>
            <a:off x="21088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71" name="Google Shape;171;p20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72" name="Google Shape;172;p20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173" name="Google Shape;173;p20"/>
          <p:cNvSpPr/>
          <p:nvPr/>
        </p:nvSpPr>
        <p:spPr>
          <a:xfrm>
            <a:off x="4155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83751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75" name="Google Shape;175;p20"/>
          <p:cNvSpPr txBox="1"/>
          <p:nvPr/>
        </p:nvSpPr>
        <p:spPr>
          <a:xfrm>
            <a:off x="6477525" y="4570800"/>
            <a:ext cx="26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vert: character dans le meme position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jeune: character dans le mauvais position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gris : le character n’est pas dans le mot cible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873184" y="1613911"/>
            <a:ext cx="20328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350" lIns="113350" spcFirstLastPara="1" rIns="113350" wrap="square" tIns="11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36"/>
              <a:t>mot cible = Tiret</a:t>
            </a:r>
            <a:endParaRPr sz="1736"/>
          </a:p>
        </p:txBody>
      </p:sp>
      <p:sp>
        <p:nvSpPr>
          <p:cNvPr id="177" name="Google Shape;177;p20"/>
          <p:cNvSpPr/>
          <p:nvPr/>
        </p:nvSpPr>
        <p:spPr>
          <a:xfrm>
            <a:off x="660425" y="3487494"/>
            <a:ext cx="2458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350" lIns="113350" spcFirstLastPara="1" rIns="113350" wrap="square" tIns="11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36"/>
              <a:t>mot tentative = Texte</a:t>
            </a:r>
            <a:endParaRPr sz="1736"/>
          </a:p>
        </p:txBody>
      </p:sp>
      <p:sp>
        <p:nvSpPr>
          <p:cNvPr id="178" name="Google Shape;178;p20"/>
          <p:cNvSpPr/>
          <p:nvPr/>
        </p:nvSpPr>
        <p:spPr>
          <a:xfrm>
            <a:off x="5002367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i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858242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 sz="1010"/>
          </a:p>
        </p:txBody>
      </p:sp>
      <p:sp>
        <p:nvSpPr>
          <p:cNvPr id="180" name="Google Shape;180;p20"/>
          <p:cNvSpPr/>
          <p:nvPr/>
        </p:nvSpPr>
        <p:spPr>
          <a:xfrm>
            <a:off x="4146521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  <p:sp>
        <p:nvSpPr>
          <p:cNvPr id="181" name="Google Shape;181;p20"/>
          <p:cNvSpPr/>
          <p:nvPr/>
        </p:nvSpPr>
        <p:spPr>
          <a:xfrm>
            <a:off x="6714058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e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569945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  <p:sp>
        <p:nvSpPr>
          <p:cNvPr id="183" name="Google Shape;183;p20"/>
          <p:cNvSpPr/>
          <p:nvPr/>
        </p:nvSpPr>
        <p:spPr>
          <a:xfrm>
            <a:off x="5002367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e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858204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x</a:t>
            </a:r>
            <a:endParaRPr sz="1010"/>
          </a:p>
        </p:txBody>
      </p:sp>
      <p:sp>
        <p:nvSpPr>
          <p:cNvPr id="185" name="Google Shape;185;p20"/>
          <p:cNvSpPr/>
          <p:nvPr/>
        </p:nvSpPr>
        <p:spPr>
          <a:xfrm>
            <a:off x="6714058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t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7569945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010"/>
          </a:p>
        </p:txBody>
      </p:sp>
      <p:cxnSp>
        <p:nvCxnSpPr>
          <p:cNvPr id="187" name="Google Shape;187;p20"/>
          <p:cNvCxnSpPr>
            <a:stCxn id="181" idx="2"/>
            <a:endCxn id="183" idx="0"/>
          </p:cNvCxnSpPr>
          <p:nvPr/>
        </p:nvCxnSpPr>
        <p:spPr>
          <a:xfrm flipH="1">
            <a:off x="5357308" y="2232208"/>
            <a:ext cx="1711800" cy="120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0"/>
          <p:cNvCxnSpPr>
            <a:stCxn id="180" idx="2"/>
            <a:endCxn id="189" idx="0"/>
          </p:cNvCxnSpPr>
          <p:nvPr/>
        </p:nvCxnSpPr>
        <p:spPr>
          <a:xfrm>
            <a:off x="4501571" y="2232208"/>
            <a:ext cx="0" cy="1209300"/>
          </a:xfrm>
          <a:prstGeom prst="straightConnector1">
            <a:avLst/>
          </a:prstGeom>
          <a:noFill/>
          <a:ln cap="flat" cmpd="sng" w="35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0"/>
          <p:cNvCxnSpPr>
            <a:stCxn id="181" idx="2"/>
            <a:endCxn id="186" idx="0"/>
          </p:cNvCxnSpPr>
          <p:nvPr/>
        </p:nvCxnSpPr>
        <p:spPr>
          <a:xfrm>
            <a:off x="7069108" y="2232208"/>
            <a:ext cx="855900" cy="1209300"/>
          </a:xfrm>
          <a:prstGeom prst="straightConnector1">
            <a:avLst/>
          </a:prstGeom>
          <a:noFill/>
          <a:ln cap="flat" cmpd="sng" w="35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0"/>
          <p:cNvCxnSpPr>
            <a:stCxn id="182" idx="2"/>
            <a:endCxn id="189" idx="0"/>
          </p:cNvCxnSpPr>
          <p:nvPr/>
        </p:nvCxnSpPr>
        <p:spPr>
          <a:xfrm flipH="1">
            <a:off x="4501695" y="2232208"/>
            <a:ext cx="3423300" cy="1209300"/>
          </a:xfrm>
          <a:prstGeom prst="straightConnector1">
            <a:avLst/>
          </a:prstGeom>
          <a:noFill/>
          <a:ln cap="flat" cmpd="sng" w="35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20"/>
          <p:cNvSpPr/>
          <p:nvPr/>
        </p:nvSpPr>
        <p:spPr>
          <a:xfrm>
            <a:off x="4146521" y="34416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  <p:sp>
        <p:nvSpPr>
          <p:cNvPr id="192" name="Google Shape;192;p20"/>
          <p:cNvSpPr/>
          <p:nvPr/>
        </p:nvSpPr>
        <p:spPr>
          <a:xfrm>
            <a:off x="5002367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e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714058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t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569945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010"/>
          </a:p>
        </p:txBody>
      </p:sp>
      <p:sp>
        <p:nvSpPr>
          <p:cNvPr id="195" name="Google Shape;195;p20"/>
          <p:cNvSpPr/>
          <p:nvPr/>
        </p:nvSpPr>
        <p:spPr>
          <a:xfrm>
            <a:off x="4146521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/>
          <p:nvPr/>
        </p:nvSpPr>
        <p:spPr>
          <a:xfrm>
            <a:off x="165693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p</a:t>
            </a:r>
            <a:endParaRPr sz="815"/>
          </a:p>
        </p:txBody>
      </p:sp>
      <p:sp>
        <p:nvSpPr>
          <p:cNvPr id="201" name="Google Shape;201;p21"/>
          <p:cNvSpPr/>
          <p:nvPr/>
        </p:nvSpPr>
        <p:spPr>
          <a:xfrm>
            <a:off x="293607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e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5756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203" name="Google Shape;203;p21"/>
          <p:cNvSpPr/>
          <p:nvPr/>
        </p:nvSpPr>
        <p:spPr>
          <a:xfrm>
            <a:off x="2296489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 sz="815"/>
          </a:p>
        </p:txBody>
      </p:sp>
      <p:sp>
        <p:nvSpPr>
          <p:cNvPr id="204" name="Google Shape;204;p21"/>
          <p:cNvSpPr/>
          <p:nvPr/>
        </p:nvSpPr>
        <p:spPr>
          <a:xfrm>
            <a:off x="421522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t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85481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206" name="Google Shape;206;p21"/>
          <p:cNvSpPr/>
          <p:nvPr/>
        </p:nvSpPr>
        <p:spPr>
          <a:xfrm>
            <a:off x="74131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207" name="Google Shape;207;p21"/>
          <p:cNvSpPr/>
          <p:nvPr/>
        </p:nvSpPr>
        <p:spPr>
          <a:xfrm>
            <a:off x="1017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p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777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2794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1339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s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7735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g</a:t>
            </a:r>
            <a:endParaRPr sz="815"/>
          </a:p>
        </p:txBody>
      </p:sp>
      <p:sp>
        <p:nvSpPr>
          <p:cNvPr id="211" name="Google Shape;211;p21"/>
          <p:cNvSpPr/>
          <p:nvPr/>
        </p:nvSpPr>
        <p:spPr>
          <a:xfrm>
            <a:off x="54943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1700" y="1152475"/>
            <a:ext cx="85206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6AA84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Découverte et utilisation de Pygame comme outil de création d'interfaces utilisateur.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Découverte et utilisation de Termcolor module comme outil pour faire de prints avec couleur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165693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 é</a:t>
            </a:r>
            <a:endParaRPr sz="815"/>
          </a:p>
        </p:txBody>
      </p:sp>
      <p:sp>
        <p:nvSpPr>
          <p:cNvPr id="218" name="Google Shape;218;p22"/>
          <p:cNvSpPr/>
          <p:nvPr/>
        </p:nvSpPr>
        <p:spPr>
          <a:xfrm>
            <a:off x="293607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5756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220" name="Google Shape;220;p22"/>
          <p:cNvSpPr/>
          <p:nvPr/>
        </p:nvSpPr>
        <p:spPr>
          <a:xfrm>
            <a:off x="2296489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221" name="Google Shape;221;p22"/>
          <p:cNvSpPr/>
          <p:nvPr/>
        </p:nvSpPr>
        <p:spPr>
          <a:xfrm>
            <a:off x="421522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r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485481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223" name="Google Shape;223;p22"/>
          <p:cNvSpPr/>
          <p:nvPr/>
        </p:nvSpPr>
        <p:spPr>
          <a:xfrm>
            <a:off x="74131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224" name="Google Shape;224;p22"/>
          <p:cNvSpPr/>
          <p:nvPr/>
        </p:nvSpPr>
        <p:spPr>
          <a:xfrm>
            <a:off x="805267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225" name="Google Shape;225;p22"/>
          <p:cNvSpPr/>
          <p:nvPr/>
        </p:nvSpPr>
        <p:spPr>
          <a:xfrm>
            <a:off x="1017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m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3777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2794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1339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7735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229" name="Google Shape;229;p22"/>
          <p:cNvSpPr/>
          <p:nvPr/>
        </p:nvSpPr>
        <p:spPr>
          <a:xfrm>
            <a:off x="54943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311700" y="1152475"/>
            <a:ext cx="85206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6AA84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Intégrer le clavier à l'interface utilisateur afin que la sélection des lettres puisse se faire soit à l'aide du clavier, soit à l'aide de la souris.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Ajouter la possibilité de choisir la langue du jeu.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Vérifie que le mot est un mot valide dans la langage choisi.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Sauvegarde les scores.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>
            <a:off x="40237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849">
                <a:latin typeface="Lobster"/>
                <a:ea typeface="Lobster"/>
                <a:cs typeface="Lobster"/>
                <a:sym typeface="Lobster"/>
              </a:rPr>
              <a:t>D</a:t>
            </a:r>
            <a:endParaRPr sz="5849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183046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706"/>
          </a:p>
        </p:txBody>
      </p:sp>
      <p:sp>
        <p:nvSpPr>
          <p:cNvPr id="237" name="Google Shape;237;p23"/>
          <p:cNvSpPr/>
          <p:nvPr/>
        </p:nvSpPr>
        <p:spPr>
          <a:xfrm>
            <a:off x="325855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</a:t>
            </a:r>
            <a:endParaRPr sz="1706"/>
          </a:p>
        </p:txBody>
      </p:sp>
      <p:sp>
        <p:nvSpPr>
          <p:cNvPr id="238" name="Google Shape;238;p23"/>
          <p:cNvSpPr/>
          <p:nvPr/>
        </p:nvSpPr>
        <p:spPr>
          <a:xfrm>
            <a:off x="468664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o</a:t>
            </a:r>
            <a:endParaRPr sz="1706"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7542827" y="1972350"/>
            <a:ext cx="1198800" cy="1198800"/>
            <a:chOff x="7542827" y="1972350"/>
            <a:chExt cx="1198800" cy="1198800"/>
          </a:xfrm>
        </p:grpSpPr>
        <p:sp>
          <p:nvSpPr>
            <p:cNvPr id="240" name="Google Shape;240;p23"/>
            <p:cNvSpPr/>
            <p:nvPr/>
          </p:nvSpPr>
          <p:spPr>
            <a:xfrm>
              <a:off x="7542827" y="1972350"/>
              <a:ext cx="1198800" cy="1198800"/>
            </a:xfrm>
            <a:prstGeom prst="roundRect">
              <a:avLst>
                <a:gd fmla="val 16667" name="adj"/>
              </a:avLst>
            </a:prstGeom>
            <a:solidFill>
              <a:srgbClr val="FFD966"/>
            </a:solidFill>
            <a:ln>
              <a:noFill/>
            </a:ln>
            <a:effectLst>
              <a:outerShdw blurRad="853153" rotWithShape="0" algn="bl" dir="8340000" dist="545554">
                <a:srgbClr val="FF9900">
                  <a:alpha val="0"/>
                </a:srgbClr>
              </a:outerShdw>
            </a:effectLst>
          </p:spPr>
          <p:txBody>
            <a:bodyPr anchorCtr="0" anchor="ctr" bIns="111425" lIns="111425" spcFirstLastPara="1" rIns="111425" wrap="square" tIns="11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6"/>
            </a:p>
          </p:txBody>
        </p:sp>
        <p:cxnSp>
          <p:nvCxnSpPr>
            <p:cNvPr id="241" name="Google Shape;241;p23"/>
            <p:cNvCxnSpPr/>
            <p:nvPr/>
          </p:nvCxnSpPr>
          <p:spPr>
            <a:xfrm>
              <a:off x="7703327" y="2571150"/>
              <a:ext cx="877800" cy="12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2" name="Google Shape;242;p23"/>
          <p:cNvGrpSpPr/>
          <p:nvPr/>
        </p:nvGrpSpPr>
        <p:grpSpPr>
          <a:xfrm>
            <a:off x="6114736" y="1972350"/>
            <a:ext cx="1198800" cy="1198800"/>
            <a:chOff x="6114736" y="1972350"/>
            <a:chExt cx="1198800" cy="1198800"/>
          </a:xfrm>
        </p:grpSpPr>
        <p:sp>
          <p:nvSpPr>
            <p:cNvPr id="243" name="Google Shape;243;p23"/>
            <p:cNvSpPr/>
            <p:nvPr/>
          </p:nvSpPr>
          <p:spPr>
            <a:xfrm>
              <a:off x="6114736" y="1972350"/>
              <a:ext cx="1198800" cy="1198800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>
              <a:noFill/>
            </a:ln>
            <a:effectLst>
              <a:outerShdw blurRad="853153" rotWithShape="0" algn="bl" dir="8340000" dist="545554">
                <a:srgbClr val="FF9900">
                  <a:alpha val="0"/>
                </a:srgbClr>
              </a:outerShdw>
            </a:effectLst>
          </p:spPr>
          <p:txBody>
            <a:bodyPr anchorCtr="0" anchor="ctr" bIns="111425" lIns="111425" spcFirstLastPara="1" rIns="111425" wrap="square" tIns="11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41"/>
                <a:buFont typeface="Arial"/>
                <a:buNone/>
              </a:pPr>
              <a:r>
                <a:t/>
              </a:r>
              <a:endParaRPr sz="1706"/>
            </a:p>
          </p:txBody>
        </p:sp>
        <p:cxnSp>
          <p:nvCxnSpPr>
            <p:cNvPr id="244" name="Google Shape;244;p23"/>
            <p:cNvCxnSpPr/>
            <p:nvPr/>
          </p:nvCxnSpPr>
          <p:spPr>
            <a:xfrm>
              <a:off x="6275239" y="2571150"/>
              <a:ext cx="877800" cy="12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/>
        </p:nvSpPr>
        <p:spPr>
          <a:xfrm>
            <a:off x="40237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849">
                <a:latin typeface="Lobster"/>
                <a:ea typeface="Lobster"/>
                <a:cs typeface="Lobster"/>
                <a:sym typeface="Lobster"/>
              </a:rPr>
              <a:t>M</a:t>
            </a:r>
            <a:endParaRPr sz="5849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183046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706"/>
          </a:p>
        </p:txBody>
      </p:sp>
      <p:sp>
        <p:nvSpPr>
          <p:cNvPr id="251" name="Google Shape;251;p24"/>
          <p:cNvSpPr/>
          <p:nvPr/>
        </p:nvSpPr>
        <p:spPr>
          <a:xfrm>
            <a:off x="325855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 sz="1706"/>
          </a:p>
        </p:txBody>
      </p:sp>
      <p:sp>
        <p:nvSpPr>
          <p:cNvPr id="252" name="Google Shape;252;p24"/>
          <p:cNvSpPr/>
          <p:nvPr/>
        </p:nvSpPr>
        <p:spPr>
          <a:xfrm>
            <a:off x="468664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</a:t>
            </a:r>
            <a:endParaRPr sz="1706"/>
          </a:p>
        </p:txBody>
      </p:sp>
      <p:sp>
        <p:nvSpPr>
          <p:cNvPr id="253" name="Google Shape;253;p24"/>
          <p:cNvSpPr/>
          <p:nvPr/>
        </p:nvSpPr>
        <p:spPr>
          <a:xfrm>
            <a:off x="611473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</a:t>
            </a:r>
            <a:endParaRPr sz="1706"/>
          </a:p>
        </p:txBody>
      </p:sp>
      <p:sp>
        <p:nvSpPr>
          <p:cNvPr id="254" name="Google Shape;254;p24"/>
          <p:cNvSpPr/>
          <p:nvPr/>
        </p:nvSpPr>
        <p:spPr>
          <a:xfrm>
            <a:off x="7542827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!</a:t>
            </a:r>
            <a:endParaRPr sz="1706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